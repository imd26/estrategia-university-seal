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01 — 52   ABERTURA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5000" y="0"/>
            <a:ext cx="5207000" cy="6858000"/>
          </a:xfrm>
          <a:prstGeom prst="roundRect">
            <a:avLst>
              <a:gd name="adj" fmla="val 9000"/>
            </a:avLst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52400"/>
            <a:ext cx="5054600" cy="6553200"/>
          </a:xfrm>
          <a:prstGeom prst="rect">
            <a:avLst/>
          </a:prstGeom>
        </p:spPr>
      </p:pic>
      <p:pic>
        <p:nvPicPr>
          <p:cNvPr id="8" name="Picture 7" descr="rm_sym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965200"/>
            <a:ext cx="406400" cy="40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58900" y="1016000"/>
            <a:ext cx="31750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340">
                <a:solidFill>
                  <a:srgbClr val="E7CC86"/>
                </a:solidFill>
                <a:latin typeface="Poppins"/>
              </a:rPr>
              <a:t>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1473200"/>
            <a:ext cx="57150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Cormorant Garamond"/>
              </a:rPr>
              <a:t>DOMÍNIO</a:t>
            </a:r>
          </a:p>
          <a:p>
            <a:pPr>
              <a:lnSpc>
                <a:spcPct val="100000"/>
              </a:lnSpc>
            </a:pPr>
            <a:r>
              <a:rPr sz="5800" b="1" i="0">
                <a:solidFill>
                  <a:srgbClr val="C6A25C"/>
                </a:solidFill>
                <a:latin typeface="Cormorant Garamond"/>
              </a:rPr>
              <a:t>COMPETITIVO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594100"/>
            <a:ext cx="10795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3784600"/>
            <a:ext cx="4826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AAB2BD"/>
                </a:solidFill>
                <a:latin typeface="Poppins"/>
              </a:rPr>
              <a:t>Como deixar de disputar por preço e se tornar a primeira escolha.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838700"/>
            <a:ext cx="4826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rmorant Garamond"/>
              </a:rPr>
              <a:t>Ricardo Marafon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207000"/>
            <a:ext cx="482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300">
                <a:solidFill>
                  <a:srgbClr val="AAB2BD"/>
                </a:solidFill>
                <a:latin typeface="Poppins"/>
              </a:rPr>
              <a:t>PALESTRANTE E CONSELHEIRO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02 — 52   ABERTURA</a:t>
            </a:r>
          </a:p>
        </p:txBody>
      </p:sp>
      <p:pic>
        <p:nvPicPr>
          <p:cNvPr id="6" name="Picture 5" descr="image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43000"/>
            <a:ext cx="4064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0" y="12255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1400" y="1143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473200"/>
            <a:ext cx="5969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3000" b="1" i="0">
                <a:solidFill>
                  <a:srgbClr val="0A1B31"/>
                </a:solidFill>
                <a:latin typeface="Cormorant Garamond"/>
              </a:rPr>
              <a:t>O que vamos </a:t>
            </a:r>
            <a:r>
              <a:rPr sz="30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3000" b="1" i="0">
                <a:solidFill>
                  <a:srgbClr val="0A1B31"/>
                </a:solidFill>
                <a:latin typeface="Cormorant Garamond"/>
              </a:rPr>
              <a:t>descobrir</a:t>
            </a:r>
            <a:r>
              <a:rPr sz="3000" b="1" i="0">
                <a:solidFill>
                  <a:srgbClr val="9C7B33"/>
                </a:solidFill>
                <a:latin typeface="Cormorant Garamond"/>
              </a:rPr>
              <a:t> ]</a:t>
            </a:r>
          </a:p>
          <a:p>
            <a:pPr>
              <a:lnSpc>
                <a:spcPct val="104000"/>
              </a:lnSpc>
            </a:pPr>
            <a:r>
              <a:rPr sz="3000" b="1" i="0">
                <a:solidFill>
                  <a:srgbClr val="0A1B31"/>
                </a:solidFill>
                <a:latin typeface="Cormorant Garamond"/>
              </a:rPr>
              <a:t>hoje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32766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9C7B33"/>
                </a:solidFill>
                <a:latin typeface="Cormorant Garamon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9200" y="33020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0A1B31"/>
                </a:solidFill>
                <a:latin typeface="Poppins"/>
              </a:rPr>
              <a:t>Por que boas empresas ainda disputam por preço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5560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9C7B33"/>
                </a:solidFill>
                <a:latin typeface="Cormorant Garamon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9200" y="35814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0A1B31"/>
                </a:solidFill>
                <a:latin typeface="Poppins"/>
              </a:rPr>
              <a:t>O que torna uma empresa substituível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8354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9C7B33"/>
                </a:solidFill>
                <a:latin typeface="Cormorant Garamon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9200" y="38608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0A1B31"/>
                </a:solidFill>
                <a:latin typeface="Poppins"/>
              </a:rPr>
              <a:t>Em que estágio competitivo está a sua empresa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1148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9C7B33"/>
                </a:solidFill>
                <a:latin typeface="Cormorant Garamon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9200" y="41402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0A1B31"/>
                </a:solidFill>
                <a:latin typeface="Poppins"/>
              </a:rPr>
              <a:t>Como construir preferência no mercado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43942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9C7B33"/>
                </a:solidFill>
                <a:latin typeface="Cormorant Garamon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9200" y="44196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0A1B31"/>
                </a:solidFill>
                <a:latin typeface="Poppins"/>
              </a:rPr>
              <a:t>Qual pode ser o próximo passo da sua empresa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03 — 52   A DISPUTA PELA PREFERÊNCIA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556000"/>
            <a:ext cx="4572000" cy="33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0" b="1" i="0">
                <a:solidFill>
                  <a:srgbClr val="11223A"/>
                </a:solidFill>
                <a:latin typeface="Cormorant Garamond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500" y="1987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1900" y="1905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Capítulo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298700"/>
            <a:ext cx="99060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ormorant Garamond"/>
              </a:rPr>
              <a:t>A disputa 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5000" b="1" i="0">
                <a:solidFill>
                  <a:srgbClr val="FFFFFF"/>
                </a:solidFill>
                <a:latin typeface="Cormorant Garamond"/>
              </a:rPr>
              <a:t>invisível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 ]</a:t>
            </a:r>
          </a:p>
          <a:p>
            <a:pPr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ormorant Garamond"/>
              </a:rPr>
              <a:t>pela preferência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4483100"/>
            <a:ext cx="9525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4381500"/>
            <a:ext cx="666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AAB2BD"/>
                </a:solidFill>
                <a:latin typeface="Poppins"/>
              </a:rPr>
              <a:t>Por que boas empresas ainda precisam disputar por preço.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04 — 52   A DISPUTA PELA PREFERÊNCIA</a:t>
            </a:r>
          </a:p>
        </p:txBody>
      </p:sp>
      <p:pic>
        <p:nvPicPr>
          <p:cNvPr id="6" name="Picture 5" descr="image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206500"/>
            <a:ext cx="4191000" cy="4445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32500" y="10350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89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O paradoxo das boas empresas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2500" y="1358900"/>
            <a:ext cx="5397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D9DCE1"/>
                </a:solidFill>
                <a:latin typeface="Poppins"/>
              </a:rPr>
              <a:t>Sua empresa pode: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2500" y="1638300"/>
            <a:ext cx="53975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entregar qualidade</a:t>
            </a:r>
          </a:p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atender bem</a:t>
            </a:r>
          </a:p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investir em marketing</a:t>
            </a:r>
          </a:p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buscar a excelência em tudo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2984500"/>
            <a:ext cx="539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9DCE1"/>
                </a:solidFill>
                <a:latin typeface="Poppins"/>
              </a:rPr>
              <a:t>…e ainda assim disputar clientes pelo preço. O mercado não remunera o esforço — remunera o valor que o cliente percebe.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2500" y="3937000"/>
            <a:ext cx="5334000" cy="698500"/>
          </a:xfrm>
          <a:prstGeom prst="roundRect">
            <a:avLst>
              <a:gd name="adj" fmla="val 12000"/>
            </a:avLst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000" y="3937000"/>
            <a:ext cx="4953000" cy="698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7CC86"/>
                </a:solidFill>
                <a:latin typeface="Cormorant Garamond"/>
              </a:rPr>
              <a:t>Valor percebido </a:t>
            </a:r>
            <a:r>
              <a:rPr sz="1100" b="0" i="0">
                <a:solidFill>
                  <a:srgbClr val="FFFFFF"/>
                </a:solidFill>
                <a:latin typeface="Cormorant Garamond"/>
              </a:rPr>
              <a:t>=  Benefícios  </a:t>
            </a:r>
            <a:r>
              <a:rPr sz="1300" b="1" i="0">
                <a:solidFill>
                  <a:srgbClr val="C6A25C"/>
                </a:solidFill>
                <a:latin typeface="Cormorant Garamond"/>
              </a:rPr>
              <a:t>−</a:t>
            </a:r>
            <a:r>
              <a:rPr sz="1100" b="0" i="0">
                <a:solidFill>
                  <a:srgbClr val="FFFFFF"/>
                </a:solidFill>
                <a:latin typeface="Cormorant Garamond"/>
              </a:rPr>
              <a:t>  Custos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05 — 52   A DISPUTA PELA PREFERÊNCIA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6700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1587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O mercado recompensa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905000"/>
            <a:ext cx="1016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4300" b="1" i="0">
                <a:solidFill>
                  <a:srgbClr val="0A1B31"/>
                </a:solidFill>
                <a:latin typeface="Cormorant Garamond"/>
              </a:rPr>
              <a:t>Relevância — não </a:t>
            </a:r>
            <a:r>
              <a:rPr sz="43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4300" b="1" i="0">
                <a:solidFill>
                  <a:srgbClr val="0A1B31"/>
                </a:solidFill>
                <a:latin typeface="Cormorant Garamond"/>
              </a:rPr>
              <a:t>esforço</a:t>
            </a:r>
            <a:r>
              <a:rPr sz="4300" b="1" i="0">
                <a:solidFill>
                  <a:srgbClr val="9C7B33"/>
                </a:solidFill>
                <a:latin typeface="Cormorant Garamond"/>
              </a:rPr>
              <a:t>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3302000"/>
            <a:ext cx="4953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9500" y="3556000"/>
            <a:ext cx="444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A1B31"/>
                </a:solidFill>
                <a:latin typeface="Cormorant Garamond"/>
              </a:rPr>
              <a:t>Grande parte das empresas não possui estratégia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500" y="41910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Foco em processos, operações, eficiência e reuniões.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9000" y="3302000"/>
            <a:ext cx="4953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000" y="3556000"/>
            <a:ext cx="444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A1B31"/>
                </a:solidFill>
                <a:latin typeface="Cormorant Garamond"/>
              </a:rPr>
              <a:t>Confundem o importante com o estratégico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0" y="41910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Buscam melhoria contínua, mas dedicam pouco tempo à diferenciação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06 — 52   A DISPUTA PELA PREFERÊNCIA</a:t>
            </a:r>
          </a:p>
        </p:txBody>
      </p:sp>
      <p:pic>
        <p:nvPicPr>
          <p:cNvPr id="6" name="Picture 5" descr="image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206500"/>
            <a:ext cx="3937000" cy="4445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97500" y="1098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3900" y="1016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Percepção de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7500" y="1320800"/>
            <a:ext cx="5715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600" b="1" i="0">
                <a:solidFill>
                  <a:srgbClr val="FFFFFF"/>
                </a:solidFill>
                <a:latin typeface="Cormorant Garamond"/>
              </a:rPr>
              <a:t>Quando a diferença </a:t>
            </a:r>
          </a:p>
          <a:p>
            <a:pPr>
              <a:lnSpc>
                <a:spcPct val="104000"/>
              </a:lnSpc>
            </a:pPr>
            <a:r>
              <a:rPr sz="2600" b="1" i="0">
                <a:solidFill>
                  <a:srgbClr val="FFFFFF"/>
                </a:solidFill>
                <a:latin typeface="Cormorant Garamond"/>
              </a:rPr>
              <a:t>não é </a:t>
            </a:r>
            <a:r>
              <a:rPr sz="26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600" b="1" i="0">
                <a:solidFill>
                  <a:srgbClr val="FFFFFF"/>
                </a:solidFill>
                <a:latin typeface="Cormorant Garamond"/>
              </a:rPr>
              <a:t>percebida</a:t>
            </a:r>
            <a:r>
              <a:rPr sz="26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7500" y="2413000"/>
            <a:ext cx="571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D9DCE1"/>
                </a:solidFill>
                <a:latin typeface="Poppins"/>
              </a:rPr>
              <a:t>Ao receber sua proposta, o cliente percebe: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7500" y="2692400"/>
            <a:ext cx="571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D9DCE1"/>
                </a:solidFill>
                <a:latin typeface="Poppins"/>
              </a:rPr>
              <a:t>a) uma escolha realmente diferente; ou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D9DCE1"/>
                </a:solidFill>
                <a:latin typeface="Poppins"/>
              </a:rPr>
              <a:t>b) apenas mais uma alternativa semelhante.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7500" y="3556000"/>
            <a:ext cx="571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D9DCE1"/>
                </a:solidFill>
                <a:latin typeface="Poppins"/>
              </a:rPr>
              <a:t>Sem diferença relevante, o preço vira o critério mais fácil de comparação.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7500" y="4318000"/>
            <a:ext cx="25400" cy="76200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2600" y="4343400"/>
            <a:ext cx="5397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AAB2BD"/>
                </a:solidFill>
                <a:latin typeface="Poppins"/>
              </a:rPr>
              <a:t>Quando tudo parece igual,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572000"/>
            <a:ext cx="539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7CC86"/>
                </a:solidFill>
                <a:latin typeface="Cormorant Garamond"/>
              </a:rPr>
              <a:t>o cliente escolhe pelo preço.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07 — 52   A DISPUTA PELA PREFERÊNCIA</a:t>
            </a:r>
          </a:p>
        </p:txBody>
      </p:sp>
      <p:pic>
        <p:nvPicPr>
          <p:cNvPr id="6" name="Picture 5" descr="image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1206500"/>
            <a:ext cx="3937000" cy="4445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2500" y="1098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8900" y="1016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O risco silencioso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1320800"/>
            <a:ext cx="5715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600" b="1" i="0">
                <a:solidFill>
                  <a:srgbClr val="FFFFFF"/>
                </a:solidFill>
                <a:latin typeface="Cormorant Garamond"/>
              </a:rPr>
              <a:t>Não é preciso piorar</a:t>
            </a:r>
          </a:p>
          <a:p>
            <a:pPr>
              <a:lnSpc>
                <a:spcPct val="104000"/>
              </a:lnSpc>
            </a:pPr>
            <a:r>
              <a:rPr sz="2600" b="1" i="0">
                <a:solidFill>
                  <a:srgbClr val="FFFFFF"/>
                </a:solidFill>
                <a:latin typeface="Cormorant Garamond"/>
              </a:rPr>
              <a:t>para </a:t>
            </a:r>
            <a:r>
              <a:rPr sz="26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600" b="1" i="0">
                <a:solidFill>
                  <a:srgbClr val="FFFFFF"/>
                </a:solidFill>
                <a:latin typeface="Cormorant Garamond"/>
              </a:rPr>
              <a:t>perder a relevância</a:t>
            </a:r>
            <a:r>
              <a:rPr sz="26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413000"/>
            <a:ext cx="558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D9DCE1"/>
                </a:solidFill>
                <a:latin typeface="Poppins"/>
              </a:rPr>
              <a:t>O sucesso não é permanente. Sua empresa pode continuar: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692400"/>
            <a:ext cx="5588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100" b="0" i="0">
                <a:solidFill>
                  <a:srgbClr val="D9DCE1"/>
                </a:solidFill>
                <a:latin typeface="Poppins"/>
              </a:rPr>
              <a:t>entregando a mesma qualidade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100" b="0" i="0">
                <a:solidFill>
                  <a:srgbClr val="D9DCE1"/>
                </a:solidFill>
                <a:latin typeface="Poppins"/>
              </a:rPr>
              <a:t>atendendo da mesma maneira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100" b="0" i="0">
                <a:solidFill>
                  <a:srgbClr val="D9DCE1"/>
                </a:solidFill>
                <a:latin typeface="Poppins"/>
              </a:rPr>
              <a:t>oferecendo os mesmos produtos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100" b="0" i="0">
                <a:solidFill>
                  <a:srgbClr val="D9DCE1"/>
                </a:solidFill>
                <a:latin typeface="Poppins"/>
              </a:rPr>
              <a:t>fazendo o que sempre funcionou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937000"/>
            <a:ext cx="558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D9DCE1"/>
                </a:solidFill>
                <a:latin typeface="Poppins"/>
              </a:rPr>
              <a:t>…e ainda assim perder espaço no mercado.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500" y="4381500"/>
            <a:ext cx="25400" cy="50800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900" y="4368800"/>
            <a:ext cx="546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FFFFFF"/>
                </a:solidFill>
                <a:latin typeface="Poppins"/>
              </a:rPr>
              <a:t>Isso acontece quando os clientes mudam e os concorrentes evoluem mais rápido.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8A7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08 — 52   A DISPUTA PELA PREFERÊNCIA</a:t>
            </a:r>
          </a:p>
        </p:txBody>
      </p:sp>
      <p:pic>
        <p:nvPicPr>
          <p:cNvPr id="6" name="Picture 5" descr="image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1206500"/>
            <a:ext cx="4127500" cy="4445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5500" y="1206500"/>
            <a:ext cx="5715000" cy="4445000"/>
          </a:xfrm>
          <a:prstGeom prst="roundRect">
            <a:avLst>
              <a:gd name="adj" fmla="val 5000"/>
            </a:avLst>
          </a:prstGeom>
          <a:solidFill>
            <a:srgbClr val="0C2038"/>
          </a:solidFill>
          <a:ln w="15240">
            <a:solidFill>
              <a:srgbClr val="E7C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1606550"/>
            <a:ext cx="292100" cy="19050"/>
          </a:xfrm>
          <a:prstGeom prst="rect">
            <a:avLst/>
          </a:prstGeom>
          <a:solidFill>
            <a:srgbClr val="E7C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400" y="1524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E7CC86"/>
                </a:solidFill>
                <a:latin typeface="Poppins"/>
              </a:rPr>
              <a:t>O verdadeiro jogo competitivo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05000"/>
            <a:ext cx="5207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700" b="1" i="0">
                <a:solidFill>
                  <a:srgbClr val="FFFFFF"/>
                </a:solidFill>
                <a:latin typeface="Cormorant Garamond"/>
              </a:rPr>
              <a:t>A disputa é pela </a:t>
            </a:r>
          </a:p>
          <a:p>
            <a:pPr>
              <a:lnSpc>
                <a:spcPct val="104000"/>
              </a:lnSpc>
            </a:pPr>
            <a:r>
              <a:rPr sz="27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700" b="1" i="0">
                <a:solidFill>
                  <a:srgbClr val="FFFFFF"/>
                </a:solidFill>
                <a:latin typeface="Cormorant Garamond"/>
              </a:rPr>
              <a:t>preferência</a:t>
            </a:r>
            <a:r>
              <a:rPr sz="27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84500"/>
            <a:ext cx="5207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E7EAF0"/>
                </a:solidFill>
                <a:latin typeface="Poppins"/>
              </a:rPr>
              <a:t>Empresas não competem só por vendas. Competem pela: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76600"/>
            <a:ext cx="5207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00" b="1" i="0">
                <a:solidFill>
                  <a:srgbClr val="E7CC86"/>
                </a:solidFill>
                <a:latin typeface="Poppins"/>
              </a:rPr>
              <a:t>—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atenção do mercado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00" b="1" i="0">
                <a:solidFill>
                  <a:srgbClr val="E7CC86"/>
                </a:solidFill>
                <a:latin typeface="Poppins"/>
              </a:rPr>
              <a:t>—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percepção de valor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00" b="1" i="0">
                <a:solidFill>
                  <a:srgbClr val="E7CC86"/>
                </a:solidFill>
                <a:latin typeface="Poppins"/>
              </a:rPr>
              <a:t>—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confiança do cliente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100" b="1" i="0">
                <a:solidFill>
                  <a:srgbClr val="E7CC86"/>
                </a:solidFill>
                <a:latin typeface="Poppins"/>
              </a:rPr>
              <a:t>—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preferência na hora da decisão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45000"/>
            <a:ext cx="5207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E7EAF0"/>
                </a:solidFill>
                <a:latin typeface="Poppins"/>
              </a:rPr>
              <a:t>Vencer é construir uma posição que faça sua empresa ser preferida amanhã.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09 — 52   ESTRATÉGIA &amp; DIFERENCIAÇÃO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556000"/>
            <a:ext cx="4572000" cy="33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0" b="1" i="0">
                <a:solidFill>
                  <a:srgbClr val="11223A"/>
                </a:solidFill>
                <a:latin typeface="Cormorant Garamond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500" y="1987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1900" y="1905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Capítulo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298700"/>
            <a:ext cx="99060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ormorant Garamond"/>
              </a:rPr>
              <a:t>Estratégia é construir</a:t>
            </a:r>
          </a:p>
          <a:p>
            <a:pPr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ormorant Garamond"/>
              </a:rPr>
              <a:t>uma 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5000" b="1" i="0">
                <a:solidFill>
                  <a:srgbClr val="FFFFFF"/>
                </a:solidFill>
                <a:latin typeface="Cormorant Garamond"/>
              </a:rPr>
              <a:t>posição única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4483100"/>
            <a:ext cx="9525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4381500"/>
            <a:ext cx="666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AAB2BD"/>
                </a:solidFill>
                <a:latin typeface="Poppins"/>
              </a:rPr>
              <a:t>Da eficiência operacional à diferenciação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10 — 52   ESTRATÉGIA &amp; DIFERENCIAÇÃO</a:t>
            </a:r>
          </a:p>
        </p:txBody>
      </p:sp>
      <p:pic>
        <p:nvPicPr>
          <p:cNvPr id="6" name="Picture 5" descr="image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270000"/>
            <a:ext cx="4572000" cy="431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13500" y="10985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9900" y="1016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Estratégia não é fazer mais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3500" y="1460500"/>
            <a:ext cx="5016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3A475A"/>
                </a:solidFill>
                <a:latin typeface="Poppins"/>
              </a:rPr>
              <a:t>Não é definir metas, melhorar processos, investir em marketing ou aumentar vendas.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500" y="2095500"/>
            <a:ext cx="5016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3A475A"/>
                </a:solidFill>
                <a:latin typeface="Poppins"/>
              </a:rPr>
              <a:t>Tudo isso melhora o desempenho, mas não determina por que a empresa será preferida.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3500" y="2857500"/>
            <a:ext cx="5016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3A475A"/>
                </a:solidFill>
                <a:latin typeface="Poppins"/>
              </a:rPr>
              <a:t>Estratégia é criar uma posição singular e de valor.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3500" y="3556000"/>
            <a:ext cx="25400" cy="88900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8600" y="3530600"/>
            <a:ext cx="5016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1" i="0">
                <a:solidFill>
                  <a:srgbClr val="0A1B31"/>
                </a:solidFill>
                <a:latin typeface="Cormorant Garamond"/>
              </a:rPr>
              <a:t>Eficiência é fazer melhor.</a:t>
            </a:r>
          </a:p>
          <a:p>
            <a:pPr>
              <a:lnSpc>
                <a:spcPct val="125000"/>
              </a:lnSpc>
            </a:pPr>
            <a:r>
              <a:rPr sz="1700" b="1" i="0">
                <a:solidFill>
                  <a:srgbClr val="0A1B31"/>
                </a:solidFill>
                <a:latin typeface="Cormorant Garamond"/>
              </a:rPr>
              <a:t>Estratégia é fazer diferente.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11 — 52   ESTRATÉGIA &amp; DIFERENCIAÇÃO</a:t>
            </a:r>
          </a:p>
        </p:txBody>
      </p:sp>
      <p:pic>
        <p:nvPicPr>
          <p:cNvPr id="6" name="Picture 5" descr="image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206500"/>
            <a:ext cx="2667000" cy="2984500"/>
          </a:xfrm>
          <a:prstGeom prst="rect">
            <a:avLst/>
          </a:prstGeom>
        </p:spPr>
      </p:pic>
      <p:pic>
        <p:nvPicPr>
          <p:cNvPr id="7" name="Picture 6" descr="image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00" y="1206500"/>
            <a:ext cx="2667000" cy="2984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500" y="4267200"/>
            <a:ext cx="2667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 spc="260" cap="all">
                <a:solidFill>
                  <a:srgbClr val="C6A25C"/>
                </a:solidFill>
                <a:latin typeface="Poppins"/>
              </a:rPr>
              <a:t>ALBERT EINSTEIN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7000" y="4267200"/>
            <a:ext cx="2667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 spc="260" cap="all">
                <a:solidFill>
                  <a:srgbClr val="C6A25C"/>
                </a:solidFill>
                <a:latin typeface="Poppins"/>
              </a:rPr>
              <a:t>THOMAS EDISON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2000" y="1225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8400" y="1143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Diferenciação exige criação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0" y="1549400"/>
            <a:ext cx="43180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1">
                <a:solidFill>
                  <a:srgbClr val="F2EDE2"/>
                </a:solidFill>
                <a:latin typeface="Cormorant Garamond"/>
              </a:rPr>
              <a:t>“Penso 99 vezes e nada descubro; deixo de pensar, mergulho em silêncio — e a verdade se revela.”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0" y="2984500"/>
            <a:ext cx="4318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1">
                <a:solidFill>
                  <a:srgbClr val="D9DCE1"/>
                </a:solidFill>
                <a:latin typeface="Poppins"/>
              </a:rPr>
              <a:t>Edison complementa: “90% de transpiração para 10% de inspiração.”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0" y="3683000"/>
            <a:ext cx="431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7CC86"/>
                </a:solidFill>
                <a:latin typeface="Cormorant Garamond"/>
              </a:rPr>
              <a:t>A criatividade é para todos — não só para os gênios.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12 — 52   ESTRATÉGIA &amp; DIFERENCIAÇÃO</a:t>
            </a:r>
          </a:p>
        </p:txBody>
      </p:sp>
      <p:pic>
        <p:nvPicPr>
          <p:cNvPr id="6" name="Picture 5" descr="image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952500"/>
            <a:ext cx="838200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91000" y="3810000"/>
            <a:ext cx="3810000" cy="3429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0" y="3810000"/>
            <a:ext cx="3810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200" cap="all">
                <a:solidFill>
                  <a:srgbClr val="E7CC86"/>
                </a:solidFill>
                <a:latin typeface="Poppins"/>
              </a:rPr>
              <a:t>OLHAR DO EMPRESÁRIO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4381500"/>
            <a:ext cx="8890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1">
                <a:solidFill>
                  <a:srgbClr val="F3EEE3"/>
                </a:solidFill>
                <a:latin typeface="Cormorant Garamond"/>
              </a:rPr>
              <a:t>Você constrói uma posição estratégica diferenciada… ou consome a maior parte do tempo apenas buscando eficácia operacional?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13 — 52   ESTRATÉGIA &amp; DIFERENCIAÇÃO</a:t>
            </a:r>
          </a:p>
        </p:txBody>
      </p:sp>
      <p:pic>
        <p:nvPicPr>
          <p:cNvPr id="6" name="Picture 5" descr="image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206500"/>
            <a:ext cx="4445000" cy="4445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23000" y="1098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016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Oceanos competitivos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000" y="1358900"/>
            <a:ext cx="5207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400" b="1" i="0">
                <a:solidFill>
                  <a:srgbClr val="FFFFFF"/>
                </a:solidFill>
                <a:latin typeface="Cormorant Garamond"/>
              </a:rPr>
              <a:t>Onde você escolhe </a:t>
            </a:r>
            <a:r>
              <a:rPr sz="24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400" b="1" i="0">
                <a:solidFill>
                  <a:srgbClr val="FFFFFF"/>
                </a:solidFill>
                <a:latin typeface="Cormorant Garamond"/>
              </a:rPr>
              <a:t>competir</a:t>
            </a:r>
            <a:r>
              <a:rPr sz="24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000" y="2286000"/>
            <a:ext cx="5207000" cy="1460500"/>
          </a:xfrm>
          <a:prstGeom prst="roundRect">
            <a:avLst>
              <a:gd name="adj" fmla="val 6000"/>
            </a:avLst>
          </a:prstGeom>
          <a:solidFill>
            <a:srgbClr val="0C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3000" y="2286000"/>
            <a:ext cx="5207000" cy="33020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100" y="2311400"/>
            <a:ext cx="4826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rmorant Garamond"/>
              </a:rPr>
              <a:t>Estratégia do Oceano Vermelho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100" y="2692400"/>
            <a:ext cx="482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300"/>
              </a:spcAft>
            </a:pPr>
            <a:r>
              <a:rPr sz="10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00" b="0" i="0">
                <a:solidFill>
                  <a:srgbClr val="D9DCE1"/>
                </a:solidFill>
                <a:latin typeface="Poppins"/>
              </a:rPr>
              <a:t>Competir no mercado existente</a:t>
            </a:r>
          </a:p>
          <a:p>
            <a:pPr>
              <a:lnSpc>
                <a:spcPct val="116000"/>
              </a:lnSpc>
              <a:spcAft>
                <a:spcPts val="300"/>
              </a:spcAft>
            </a:pPr>
            <a:r>
              <a:rPr sz="10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00" b="0" i="0">
                <a:solidFill>
                  <a:srgbClr val="D9DCE1"/>
                </a:solidFill>
                <a:latin typeface="Poppins"/>
              </a:rPr>
              <a:t>Derrotar a concorrência</a:t>
            </a:r>
          </a:p>
          <a:p>
            <a:pPr>
              <a:lnSpc>
                <a:spcPct val="116000"/>
              </a:lnSpc>
              <a:spcAft>
                <a:spcPts val="300"/>
              </a:spcAft>
            </a:pPr>
            <a:r>
              <a:rPr sz="10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00" b="0" i="0">
                <a:solidFill>
                  <a:srgbClr val="D9DCE1"/>
                </a:solidFill>
                <a:latin typeface="Poppins"/>
              </a:rPr>
              <a:t>Explorar a demanda atual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0" y="3873500"/>
            <a:ext cx="5207000" cy="1460500"/>
          </a:xfrm>
          <a:prstGeom prst="roundRect">
            <a:avLst>
              <a:gd name="adj" fmla="val 6000"/>
            </a:avLst>
          </a:prstGeom>
          <a:solidFill>
            <a:srgbClr val="0C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000" y="3873500"/>
            <a:ext cx="5207000" cy="330200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100" y="3898900"/>
            <a:ext cx="4826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rmorant Garamond"/>
              </a:rPr>
              <a:t>Estratégia do Oceano Azul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100" y="4279900"/>
            <a:ext cx="482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300"/>
              </a:spcAft>
            </a:pPr>
            <a:r>
              <a:rPr sz="10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00" b="0" i="0">
                <a:solidFill>
                  <a:srgbClr val="D9DCE1"/>
                </a:solidFill>
                <a:latin typeface="Poppins"/>
              </a:rPr>
              <a:t>Criar mercado não disputado</a:t>
            </a:r>
          </a:p>
          <a:p>
            <a:pPr>
              <a:lnSpc>
                <a:spcPct val="116000"/>
              </a:lnSpc>
              <a:spcAft>
                <a:spcPts val="300"/>
              </a:spcAft>
            </a:pPr>
            <a:r>
              <a:rPr sz="10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00" b="0" i="0">
                <a:solidFill>
                  <a:srgbClr val="D9DCE1"/>
                </a:solidFill>
                <a:latin typeface="Poppins"/>
              </a:rPr>
              <a:t>Tornar a concorrência irrelevante</a:t>
            </a:r>
          </a:p>
          <a:p>
            <a:pPr>
              <a:lnSpc>
                <a:spcPct val="116000"/>
              </a:lnSpc>
              <a:spcAft>
                <a:spcPts val="300"/>
              </a:spcAft>
            </a:pPr>
            <a:r>
              <a:rPr sz="10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00" b="0" i="0">
                <a:solidFill>
                  <a:srgbClr val="D9DCE1"/>
                </a:solidFill>
                <a:latin typeface="Poppins"/>
              </a:rPr>
              <a:t>Romper o dilema valor × custo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14 — 52   ESTRATÉGIA &amp; DIFERENCIAÇÃO</a:t>
            </a:r>
          </a:p>
        </p:txBody>
      </p:sp>
      <p:pic>
        <p:nvPicPr>
          <p:cNvPr id="6" name="Picture 5" descr="image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952500"/>
            <a:ext cx="838200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91000" y="3810000"/>
            <a:ext cx="3810000" cy="3429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0" y="3810000"/>
            <a:ext cx="3810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200" cap="all">
                <a:solidFill>
                  <a:srgbClr val="E7CC86"/>
                </a:solidFill>
                <a:latin typeface="Poppins"/>
              </a:rPr>
              <a:t>OLHAR DO EMPRESÁRIO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4381500"/>
            <a:ext cx="8890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1">
                <a:solidFill>
                  <a:srgbClr val="F3EEE3"/>
                </a:solidFill>
                <a:latin typeface="Cormorant Garamond"/>
              </a:rPr>
              <a:t>Sua empresa construiu uma proposta de valor percebida como única… ou apenas disputa clientes dentro da mesma lógica dos concorrentes?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15 — 52   ESTRATÉGIA &amp; DIFERENCIAÇÃO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556000"/>
            <a:ext cx="4572000" cy="33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0" b="1" i="0">
                <a:solidFill>
                  <a:srgbClr val="11223A"/>
                </a:solidFill>
                <a:latin typeface="Cormorant Garamond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500" y="1987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1900" y="1905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Direção estratégica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298700"/>
            <a:ext cx="99060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ormorant Garamond"/>
              </a:rPr>
              <a:t>A direção que precede</a:t>
            </a:r>
          </a:p>
          <a:p>
            <a:pPr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ormorant Garamond"/>
              </a:rPr>
              <a:t>a 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5000" b="1" i="0">
                <a:solidFill>
                  <a:srgbClr val="FFFFFF"/>
                </a:solidFill>
                <a:latin typeface="Cormorant Garamond"/>
              </a:rPr>
              <a:t>diferenciação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4483100"/>
            <a:ext cx="9525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4381500"/>
            <a:ext cx="666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AAB2BD"/>
                </a:solidFill>
                <a:latin typeface="Poppins"/>
              </a:rPr>
              <a:t>Antes de escolher como competir, decida o que pretende construir.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16 — 52   ESTRATÉGIA &amp; DIFERENCIAÇÃO</a:t>
            </a:r>
          </a:p>
        </p:txBody>
      </p:sp>
      <p:pic>
        <p:nvPicPr>
          <p:cNvPr id="6" name="Picture 5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0" y="1587500"/>
            <a:ext cx="3302000" cy="330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5500" y="1479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1900" y="1397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A construção de uma Visão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1900" y="1701800"/>
            <a:ext cx="571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240" cap="all">
                <a:solidFill>
                  <a:srgbClr val="AAB2BD"/>
                </a:solidFill>
                <a:latin typeface="Poppins"/>
              </a:rPr>
              <a:t>COMUNICAÇÃO DA ESTRATÉGIA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2032000"/>
            <a:ext cx="6223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3300" b="1" i="0">
                <a:solidFill>
                  <a:srgbClr val="FFFFFF"/>
                </a:solidFill>
                <a:latin typeface="Cormorant Garamond"/>
              </a:rPr>
              <a:t>Componentes</a:t>
            </a:r>
          </a:p>
          <a:p>
            <a:pPr>
              <a:lnSpc>
                <a:spcPct val="104000"/>
              </a:lnSpc>
            </a:pPr>
            <a:r>
              <a:rPr sz="3300" b="1" i="0">
                <a:solidFill>
                  <a:srgbClr val="FFFFFF"/>
                </a:solidFill>
                <a:latin typeface="Cormorant Garamond"/>
              </a:rPr>
              <a:t>obrigatórios da </a:t>
            </a:r>
            <a:r>
              <a:rPr sz="33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3300" b="1" i="0">
                <a:solidFill>
                  <a:srgbClr val="FFFFFF"/>
                </a:solidFill>
                <a:latin typeface="Cormorant Garamond"/>
              </a:rPr>
              <a:t>Visão</a:t>
            </a:r>
            <a:r>
              <a:rPr sz="33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810000"/>
            <a:ext cx="9525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4000500"/>
            <a:ext cx="5207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AAB2BD"/>
                </a:solidFill>
                <a:latin typeface="Poppins"/>
              </a:rPr>
              <a:t>A visão nasce do encontro entre a ideologia fundamental e o futuro vislumbrado.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17 — 52   ESTRATÉGIA &amp; DIFERENCIAÇÃO</a:t>
            </a:r>
          </a:p>
        </p:txBody>
      </p:sp>
      <p:pic>
        <p:nvPicPr>
          <p:cNvPr id="6" name="Picture 5" descr="image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43000"/>
            <a:ext cx="3556000" cy="355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4826000"/>
            <a:ext cx="3556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00" cap="all">
                <a:solidFill>
                  <a:srgbClr val="C6A25C"/>
                </a:solidFill>
                <a:latin typeface="Poppins"/>
              </a:rPr>
              <a:t>PETER DRUCKER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080000"/>
            <a:ext cx="355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850" b="0" i="0">
                <a:solidFill>
                  <a:srgbClr val="AAB2BD"/>
                </a:solidFill>
                <a:latin typeface="Poppins"/>
              </a:rPr>
              <a:t>Um dos maiores pensadores da administração moderna, o “pai da gestão”.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70500" y="1225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6900" y="1143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A construção de uma Missão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0500" y="1473200"/>
            <a:ext cx="6223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400" b="1" i="0">
                <a:solidFill>
                  <a:srgbClr val="FFFFFF"/>
                </a:solidFill>
                <a:latin typeface="Cormorant Garamond"/>
              </a:rPr>
              <a:t>Cinco perguntas que </a:t>
            </a:r>
            <a:r>
              <a:rPr sz="24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400" b="1" i="0">
                <a:solidFill>
                  <a:srgbClr val="FFFFFF"/>
                </a:solidFill>
                <a:latin typeface="Cormorant Garamond"/>
              </a:rPr>
              <a:t>definem o negócio</a:t>
            </a:r>
            <a:r>
              <a:rPr sz="24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0500" y="2603500"/>
            <a:ext cx="6223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O que fazemos? (qual é o negócio)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Para quem fazemos? (qual é o público)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Que valor trazemos para o cliente?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De que forma fazemos? (como será o negócio)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Como deveria ser o negócio no mundo ideal?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18 — 52   ESTRATÉGIA &amp; DIFERENCIAÇÃO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479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1397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Estudo de caso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714500"/>
            <a:ext cx="381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900" b="1" i="0">
                <a:solidFill>
                  <a:srgbClr val="FFFFFF"/>
                </a:solidFill>
                <a:latin typeface="Cormorant Garamond"/>
              </a:rPr>
              <a:t>O exemplo </a:t>
            </a:r>
            <a:r>
              <a:rPr sz="29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900" b="1" i="0">
                <a:solidFill>
                  <a:srgbClr val="FFFFFF"/>
                </a:solidFill>
                <a:latin typeface="Cormorant Garamond"/>
              </a:rPr>
              <a:t>Apple</a:t>
            </a:r>
            <a:r>
              <a:rPr sz="29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984500"/>
            <a:ext cx="304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AAB2BD"/>
                </a:solidFill>
                <a:latin typeface="Poppins"/>
              </a:rPr>
              <a:t>Visão, missão e valores que sustentam uma posição singular.</a:t>
            </a:r>
          </a:p>
        </p:txBody>
      </p:sp>
      <p:pic>
        <p:nvPicPr>
          <p:cNvPr id="10" name="Picture 9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52500"/>
            <a:ext cx="730250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19 — 52   ESTRATÉGIA &amp; DIFERENCIAÇÃO</a:t>
            </a:r>
          </a:p>
        </p:txBody>
      </p:sp>
      <p:pic>
        <p:nvPicPr>
          <p:cNvPr id="6" name="Picture 5" descr="image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952500"/>
            <a:ext cx="838200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91000" y="3810000"/>
            <a:ext cx="3810000" cy="3429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0" y="3810000"/>
            <a:ext cx="3810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200" cap="all">
                <a:solidFill>
                  <a:srgbClr val="E7CC86"/>
                </a:solidFill>
                <a:latin typeface="Poppins"/>
              </a:rPr>
              <a:t>OLHAR DO EMPRESÁRIO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4381500"/>
            <a:ext cx="8890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1">
                <a:solidFill>
                  <a:srgbClr val="F3EEE3"/>
                </a:solidFill>
                <a:latin typeface="Cormorant Garamond"/>
              </a:rPr>
              <a:t>Ao analisar a Visão e a Missão, é possível identificar esses elementos estratégicos? Elas transmitem com clareza a direção que a organização deseja construir?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20 — 52   O MAPA DA PREFERÊNCIA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556000"/>
            <a:ext cx="4572000" cy="33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0" b="1" i="0">
                <a:solidFill>
                  <a:srgbClr val="11223A"/>
                </a:solidFill>
                <a:latin typeface="Cormorant Garamond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500" y="1987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1900" y="1905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Capítulo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298700"/>
            <a:ext cx="99060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ormorant Garamond"/>
              </a:rPr>
              <a:t>O mapa da 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5000" b="1" i="0">
                <a:solidFill>
                  <a:srgbClr val="FFFFFF"/>
                </a:solidFill>
                <a:latin typeface="Cormorant Garamond"/>
              </a:rPr>
              <a:t>preferência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4483100"/>
            <a:ext cx="9525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4381500"/>
            <a:ext cx="666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AAB2BD"/>
                </a:solidFill>
                <a:latin typeface="Poppins"/>
              </a:rPr>
              <a:t>O que realmente determina a escolha do cliente.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21 — 52   O MAPA DA PREFERÊNCIA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0350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Vetores de competitividade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270000"/>
            <a:ext cx="10160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600" b="1" i="0">
                <a:solidFill>
                  <a:srgbClr val="0A1B31"/>
                </a:solidFill>
                <a:latin typeface="Cormorant Garamond"/>
              </a:rPr>
              <a:t>Onde as vantagens são </a:t>
            </a:r>
            <a:r>
              <a:rPr sz="26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2600" b="1" i="0">
                <a:solidFill>
                  <a:srgbClr val="0A1B31"/>
                </a:solidFill>
                <a:latin typeface="Cormorant Garamond"/>
              </a:rPr>
              <a:t>construídas</a:t>
            </a:r>
            <a:r>
              <a:rPr sz="2600" b="1" i="0">
                <a:solidFill>
                  <a:srgbClr val="9C7B33"/>
                </a:solidFill>
                <a:latin typeface="Cormorant Garamond"/>
              </a:rPr>
              <a:t>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1905000"/>
            <a:ext cx="1028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AB2BD"/>
                </a:solidFill>
                <a:latin typeface="Poppins"/>
              </a:rPr>
              <a:t>A competição se vence desenvolvendo vantagens nos elementos competitivos — os Vetores de Competitividade.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" y="2540000"/>
            <a:ext cx="24765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7900" y="2692400"/>
            <a:ext cx="21717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 cap="all">
                <a:solidFill>
                  <a:srgbClr val="9C7B33"/>
                </a:solidFill>
                <a:latin typeface="Poppins"/>
              </a:rPr>
              <a:t>Relativos ao produto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900" y="3035300"/>
            <a:ext cx="2171700" cy="27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Desempenho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Confiabilidade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Conformidade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Opcionais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Serviços ao produto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Durabilidade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Estética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Qualidade aparente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Reputação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Embalagem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Estocagem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Transporte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7100" y="2540000"/>
            <a:ext cx="24765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500" y="2692400"/>
            <a:ext cx="21717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 cap="all">
                <a:solidFill>
                  <a:srgbClr val="9C7B33"/>
                </a:solidFill>
                <a:latin typeface="Poppins"/>
              </a:rPr>
              <a:t>Relativos ao preço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035300"/>
            <a:ext cx="2171700" cy="27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Preço baixo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Prazo de pagamento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Garantia de substituição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Garantia de reparos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700" y="2540000"/>
            <a:ext cx="24765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1100" y="2692400"/>
            <a:ext cx="21717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 cap="all">
                <a:solidFill>
                  <a:srgbClr val="9C7B33"/>
                </a:solidFill>
                <a:latin typeface="Poppins"/>
              </a:rPr>
              <a:t>Atração dos 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1100" y="3035300"/>
            <a:ext cx="2171700" cy="27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Localização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Marca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Disponibilidade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Variedade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Promoções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Propaganda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Confiabilidade nas entregas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Integração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0300" y="2540000"/>
            <a:ext cx="24765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2700" y="2692400"/>
            <a:ext cx="21717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20" cap="all">
                <a:solidFill>
                  <a:srgbClr val="9C7B33"/>
                </a:solidFill>
                <a:latin typeface="Poppins"/>
              </a:rPr>
              <a:t>Negociação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2700" y="3035300"/>
            <a:ext cx="2171700" cy="27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Rapidez no atendimento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Prazo de entrega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Esforço de vendas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Habilidade de vendas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Habilidade de negociação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Flexibilidade de volume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Flexibilidade de mix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5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850" b="0" i="0">
                <a:solidFill>
                  <a:srgbClr val="3A475A"/>
                </a:solidFill>
                <a:latin typeface="Poppins"/>
              </a:rPr>
              <a:t>Brindes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22 — 52   O MAPA DA PREFERÊNCIA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6065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1524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O perfil competitivo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841500"/>
            <a:ext cx="3937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800" b="1" i="0">
                <a:solidFill>
                  <a:srgbClr val="0A1B31"/>
                </a:solidFill>
                <a:latin typeface="Cormorant Garamond"/>
              </a:rPr>
              <a:t>A fotografia da sua </a:t>
            </a:r>
            <a:r>
              <a:rPr sz="28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2800" b="1" i="0">
                <a:solidFill>
                  <a:srgbClr val="0A1B31"/>
                </a:solidFill>
                <a:latin typeface="Cormorant Garamond"/>
              </a:rPr>
              <a:t>posição</a:t>
            </a:r>
            <a:r>
              <a:rPr sz="2800" b="1" i="0">
                <a:solidFill>
                  <a:srgbClr val="9C7B33"/>
                </a:solidFill>
                <a:latin typeface="Cormorant Garamond"/>
              </a:rPr>
              <a:t>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3048000"/>
            <a:ext cx="3429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Sintetiza as vantagens e desvantagens da empresa em seus vetores — a posição num dado momento.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3810000"/>
            <a:ext cx="342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Do perfil atual, define-se o desejável a curto e a longo prazo.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6000" y="1333500"/>
            <a:ext cx="6413500" cy="4191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778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1587500"/>
            <a:ext cx="59055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23 — 52   O MAPA DA PREFERÊNCIA</a:t>
            </a:r>
          </a:p>
        </p:txBody>
      </p:sp>
      <p:pic>
        <p:nvPicPr>
          <p:cNvPr id="6" name="Picture 5" descr="image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952500"/>
            <a:ext cx="838200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91000" y="3810000"/>
            <a:ext cx="3810000" cy="3429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0" y="3810000"/>
            <a:ext cx="3810000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 spc="200" cap="all">
                <a:solidFill>
                  <a:srgbClr val="E7CC86"/>
                </a:solidFill>
                <a:latin typeface="Poppins"/>
              </a:rPr>
              <a:t>OLHAR DO EMPRESÁRIO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4381500"/>
            <a:ext cx="8890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1">
                <a:solidFill>
                  <a:srgbClr val="F3EEE3"/>
                </a:solidFill>
                <a:latin typeface="Cormorant Garamond"/>
              </a:rPr>
              <a:t>O Perfil Competitivo sustenta o posicionamento que a empresa deseja ocupar… ou revela inconsistências entre discurso e prática?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24 — 52   O MAPA DA PREFERÊNCIA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556000"/>
            <a:ext cx="4572000" cy="33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0" b="1" i="0">
                <a:solidFill>
                  <a:srgbClr val="11223A"/>
                </a:solidFill>
                <a:latin typeface="Cormorant Garamond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500" y="1987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1900" y="1905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Autoavaliação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298700"/>
            <a:ext cx="99060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ormorant Garamond"/>
              </a:rPr>
              <a:t>Qual é a força</a:t>
            </a:r>
          </a:p>
          <a:p>
            <a:pPr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Cormorant Garamond"/>
              </a:rPr>
              <a:t>competitiva da 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5000" b="1" i="0">
                <a:solidFill>
                  <a:srgbClr val="FFFFFF"/>
                </a:solidFill>
                <a:latin typeface="Cormorant Garamond"/>
              </a:rPr>
              <a:t>sua empresa?</a:t>
            </a:r>
            <a:r>
              <a:rPr sz="50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4483100"/>
            <a:ext cx="9525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4381500"/>
            <a:ext cx="66675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AAB2BD"/>
                </a:solidFill>
                <a:latin typeface="Poppins"/>
              </a:rPr>
              <a:t>Um instrumento para enxergar a posição real — não para inflar a nota.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25 — 52   AUTOAVALIAÇÃO COMPETITIVA</a:t>
            </a:r>
          </a:p>
        </p:txBody>
      </p:sp>
      <p:pic>
        <p:nvPicPr>
          <p:cNvPr id="6" name="Picture 5" descr="image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2095500"/>
            <a:ext cx="4953000" cy="279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5500" y="14795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1900" y="1397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Autoavaliação competitiva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1714500"/>
            <a:ext cx="5715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600" b="1" i="0">
                <a:solidFill>
                  <a:srgbClr val="0A1B31"/>
                </a:solidFill>
                <a:latin typeface="Cormorant Garamond"/>
              </a:rPr>
              <a:t>Como avaliar cada </a:t>
            </a:r>
            <a:r>
              <a:rPr sz="26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2600" b="1" i="0">
                <a:solidFill>
                  <a:srgbClr val="0A1B31"/>
                </a:solidFill>
                <a:latin typeface="Cormorant Garamond"/>
              </a:rPr>
              <a:t>afirmação</a:t>
            </a:r>
            <a:r>
              <a:rPr sz="2600" b="1" i="0">
                <a:solidFill>
                  <a:srgbClr val="9C7B33"/>
                </a:solidFill>
                <a:latin typeface="Cormorant Garamond"/>
              </a:rPr>
              <a:t>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" y="2984500"/>
            <a:ext cx="1809750" cy="368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2984500"/>
            <a:ext cx="1682750" cy="368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1  </a:t>
            </a:r>
            <a:r>
              <a:rPr sz="800" b="0" i="0">
                <a:solidFill>
                  <a:srgbClr val="3A475A"/>
                </a:solidFill>
                <a:latin typeface="Poppins"/>
              </a:rPr>
              <a:t>Discordo totalmente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30500" y="2984500"/>
            <a:ext cx="1809750" cy="368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7500" y="2984500"/>
            <a:ext cx="1682750" cy="368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2  </a:t>
            </a:r>
            <a:r>
              <a:rPr sz="800" b="0" i="0">
                <a:solidFill>
                  <a:srgbClr val="3A475A"/>
                </a:solidFill>
                <a:latin typeface="Poppins"/>
              </a:rPr>
              <a:t>Discordo parcialmente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5500" y="2984500"/>
            <a:ext cx="1809750" cy="368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2500" y="2984500"/>
            <a:ext cx="1682750" cy="368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3  </a:t>
            </a:r>
            <a:r>
              <a:rPr sz="800" b="0" i="0">
                <a:solidFill>
                  <a:srgbClr val="3A475A"/>
                </a:solidFill>
                <a:latin typeface="Poppins"/>
              </a:rPr>
              <a:t>Não tenho certeza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500" y="3429000"/>
            <a:ext cx="1809750" cy="368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" y="3429000"/>
            <a:ext cx="1682750" cy="368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4  </a:t>
            </a:r>
            <a:r>
              <a:rPr sz="800" b="0" i="0">
                <a:solidFill>
                  <a:srgbClr val="3A475A"/>
                </a:solidFill>
                <a:latin typeface="Poppins"/>
              </a:rPr>
              <a:t>Concordo parcialmente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30500" y="3429000"/>
            <a:ext cx="1809750" cy="368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3429000"/>
            <a:ext cx="1682750" cy="368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5  </a:t>
            </a:r>
            <a:r>
              <a:rPr sz="800" b="0" i="0">
                <a:solidFill>
                  <a:srgbClr val="3A475A"/>
                </a:solidFill>
                <a:latin typeface="Poppins"/>
              </a:rPr>
              <a:t>Concordo totalmente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500" y="4064000"/>
            <a:ext cx="571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200" cap="all">
                <a:solidFill>
                  <a:srgbClr val="9C7B33"/>
                </a:solidFill>
                <a:latin typeface="Poppins"/>
              </a:rPr>
              <a:t>ORIENTAÇÕES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500" y="4343400"/>
            <a:ext cx="5397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00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1000" b="0" i="0">
                <a:solidFill>
                  <a:srgbClr val="3A475A"/>
                </a:solidFill>
                <a:latin typeface="Poppins"/>
              </a:rPr>
              <a:t>Considere a realidade atual da empresa.</a:t>
            </a:r>
          </a:p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00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1000" b="0" i="0">
                <a:solidFill>
                  <a:srgbClr val="3A475A"/>
                </a:solidFill>
                <a:latin typeface="Poppins"/>
              </a:rPr>
              <a:t>Pense na percepção e no comportamento dos clientes.</a:t>
            </a:r>
          </a:p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000" b="1" i="0">
                <a:solidFill>
                  <a:srgbClr val="9C7B33"/>
                </a:solidFill>
                <a:latin typeface="Poppins"/>
              </a:rPr>
              <a:t>—  </a:t>
            </a:r>
            <a:r>
              <a:rPr sz="1000" b="0" i="0">
                <a:solidFill>
                  <a:srgbClr val="3A475A"/>
                </a:solidFill>
                <a:latin typeface="Poppins"/>
              </a:rPr>
              <a:t>Na dúvida entre duas notas, escolha a menor.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26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11223A"/>
                </a:solidFill>
                <a:latin typeface="Cormorant Garamo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C6A25C"/>
                </a:solidFill>
                <a:latin typeface="Poppins"/>
              </a:rPr>
              <a:t>AUTOAVALIAÇÃO · AFIRMAÇÃO 01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FFFFFF"/>
                </a:solidFill>
                <a:latin typeface="Cormorant Garamond"/>
              </a:rPr>
              <a:t>Nossa empresa possui clareza sobre o mercado e o perfil de cliente cuja preferência deseja conquistar.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27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ECE7DB"/>
                </a:solidFill>
                <a:latin typeface="Cormorant Garamon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9C7B33"/>
                </a:solidFill>
                <a:latin typeface="Poppins"/>
              </a:rPr>
              <a:t>AUTOAVALIAÇÃO · AFIRMAÇÃO 02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0A1B31"/>
                </a:solidFill>
                <a:latin typeface="Cormorant Garamond"/>
              </a:rPr>
              <a:t>Nossas decisões estratégicas são orientadas por uma visão clara de futuro — não apenas pelas demandas imediatas da operação.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28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11223A"/>
                </a:solidFill>
                <a:latin typeface="Cormorant Garamon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C6A25C"/>
                </a:solidFill>
                <a:latin typeface="Poppins"/>
              </a:rPr>
              <a:t>AUTOAVALIAÇÃO · AFIRMAÇÃO 03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FFFFFF"/>
                </a:solidFill>
                <a:latin typeface="Cormorant Garamond"/>
              </a:rPr>
              <a:t>Conhecemos os verdadeiros concorrentes, incluindo soluções substitutas e alternativas que disputam a preferência do cliente.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29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11223A"/>
                </a:solidFill>
                <a:latin typeface="Cormorant Garamond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C6A25C"/>
                </a:solidFill>
                <a:latin typeface="Poppins"/>
              </a:rPr>
              <a:t>AUTOAVALIAÇÃO · AFIRMAÇÃO 04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FFFFFF"/>
                </a:solidFill>
                <a:latin typeface="Cormorant Garamond"/>
              </a:rPr>
              <a:t>Compreendemos quais critérios realmente influenciam a escolha dos nossos clientes.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30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ECE7DB"/>
                </a:solidFill>
                <a:latin typeface="Cormorant Garamond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9C7B33"/>
                </a:solidFill>
                <a:latin typeface="Poppins"/>
              </a:rPr>
              <a:t>AUTOAVALIAÇÃO · AFIRMAÇÃO 05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0A1B31"/>
                </a:solidFill>
                <a:latin typeface="Cormorant Garamond"/>
              </a:rPr>
              <a:t>Nossos clientes conseguem explicar com clareza por que deveriam escolher nossa empresa em vez dos concorrentes.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31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11223A"/>
                </a:solidFill>
                <a:latin typeface="Cormorant Garamond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C6A25C"/>
                </a:solidFill>
                <a:latin typeface="Poppins"/>
              </a:rPr>
              <a:t>AUTOAVALIAÇÃO · AFIRMAÇÃO 06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FFFFFF"/>
                </a:solidFill>
                <a:latin typeface="Cormorant Garamond"/>
              </a:rPr>
              <a:t>Nossos diferenciais são relevantes e não estão baseados apenas em afirmações genéricas, como qualidade, confiança ou bom atendimento.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32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11223A"/>
                </a:solidFill>
                <a:latin typeface="Cormorant Garamond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C6A25C"/>
                </a:solidFill>
                <a:latin typeface="Poppins"/>
              </a:rPr>
              <a:t>AUTOAVALIAÇÃO · AFIRMAÇÃO 07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FFFFFF"/>
                </a:solidFill>
                <a:latin typeface="Cormorant Garamond"/>
              </a:rPr>
              <a:t>Produtos, serviços, atendimento, marketing, vendas e experiência do cliente fortalecem a mesma posição competitiva.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33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ECE7DB"/>
                </a:solidFill>
                <a:latin typeface="Cormorant Garamond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9C7B33"/>
                </a:solidFill>
                <a:latin typeface="Poppins"/>
              </a:rPr>
              <a:t>AUTOAVALIAÇÃO · AFIRMAÇÃO 08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0A1B31"/>
                </a:solidFill>
                <a:latin typeface="Cormorant Garamond"/>
              </a:rPr>
              <a:t>A diferenciação que comunicamos é sustentada concretamente por aquilo que a empresa entrega.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9C7B33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34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11223A"/>
                </a:solidFill>
                <a:latin typeface="Cormorant Garamond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C6A25C"/>
                </a:solidFill>
                <a:latin typeface="Poppins"/>
              </a:rPr>
              <a:t>AUTOAVALIAÇÃO · AFIRMAÇÃO 09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FFFFFF"/>
                </a:solidFill>
                <a:latin typeface="Cormorant Garamond"/>
              </a:rPr>
              <a:t>Nossos clientes demonstram preferência pela empresa e não decidem principalmente com base no menor preço.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35 — 52   AUTOAVALIAÇÃO COMPETITIVA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762000"/>
            <a:ext cx="4445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0" b="1" i="0">
                <a:solidFill>
                  <a:srgbClr val="11223A"/>
                </a:solidFill>
                <a:latin typeface="Cormorant Garamond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05000"/>
            <a:ext cx="952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300" cap="all">
                <a:solidFill>
                  <a:srgbClr val="C6A25C"/>
                </a:solidFill>
                <a:latin typeface="Poppins"/>
              </a:rPr>
              <a:t>AUTOAVALIAÇÃO · AFIRMAÇÃO 10</a:t>
            </a:r>
            <a:r>
              <a:rPr sz="1000" b="1" i="0">
                <a:solidFill>
                  <a:srgbClr val="AAB2BD"/>
                </a:solidFill>
                <a:latin typeface="Poppins"/>
              </a:rPr>
              <a:t> 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49500"/>
            <a:ext cx="9398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300" b="1" i="0">
                <a:solidFill>
                  <a:srgbClr val="FFFFFF"/>
                </a:solidFill>
                <a:latin typeface="Cormorant Garamond"/>
              </a:rPr>
              <a:t>Se nossa empresa deixasse de existir, uma parcela relevante dos clientes teria dificuldade para encontrar alternativa equivalente.</a:t>
            </a:r>
          </a:p>
        </p:txBody>
      </p:sp>
      <p:sp>
        <p:nvSpPr>
          <p:cNvPr id="9" name="Oval 8"/>
          <p:cNvSpPr/>
          <p:nvPr/>
        </p:nvSpPr>
        <p:spPr>
          <a:xfrm>
            <a:off x="1460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05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349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940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238500" y="4889500"/>
            <a:ext cx="317500" cy="317500"/>
          </a:xfrm>
          <a:prstGeom prst="ellipse">
            <a:avLst/>
          </a:prstGeom>
          <a:noFill/>
          <a:ln w="1524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 i="0">
                <a:solidFill>
                  <a:srgbClr val="C6A25C"/>
                </a:solidFill>
                <a:latin typeface="Cormorant Garamon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5035550"/>
            <a:ext cx="5080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36 — 52   AUTOAVALIAÇÃO COMPETITIVA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5430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1460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Autoavaliação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778000"/>
            <a:ext cx="4826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800" b="1" i="0">
                <a:solidFill>
                  <a:srgbClr val="0A1B31"/>
                </a:solidFill>
                <a:latin typeface="Cormorant Garamond"/>
              </a:rPr>
              <a:t>Interpretação dos </a:t>
            </a:r>
            <a:r>
              <a:rPr sz="28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2800" b="1" i="0">
                <a:solidFill>
                  <a:srgbClr val="0A1B31"/>
                </a:solidFill>
                <a:latin typeface="Cormorant Garamond"/>
              </a:rPr>
              <a:t>resultados</a:t>
            </a:r>
            <a:r>
              <a:rPr sz="2800" b="1" i="0">
                <a:solidFill>
                  <a:srgbClr val="9C7B33"/>
                </a:solidFill>
                <a:latin typeface="Cormorant Garamond"/>
              </a:rPr>
              <a:t>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984500"/>
            <a:ext cx="4191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3A475A"/>
                </a:solidFill>
                <a:latin typeface="Poppins"/>
              </a:rPr>
              <a:t>Some as notas das dez afirmações. O total posiciona a empresa em um dos estágios de evolução competitiva.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374650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AAB2BD"/>
                </a:solidFill>
                <a:latin typeface="Poppins"/>
              </a:rPr>
              <a:t>A leitura não é um veredito — é um ponto de partida para a decisão.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9000" y="1587500"/>
            <a:ext cx="5270500" cy="368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7780">
            <a:solidFill>
              <a:srgbClr val="9C7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841500"/>
            <a:ext cx="48260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8A7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37 — 52   MÉTODO DOMÍNIO COMPETITIVO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0" y="3556000"/>
            <a:ext cx="4318000" cy="33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0" b="1" i="0">
                <a:solidFill>
                  <a:srgbClr val="6E5C2E"/>
                </a:solidFill>
                <a:latin typeface="Cormorant Garamond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51000" y="952500"/>
            <a:ext cx="8890000" cy="4953000"/>
          </a:xfrm>
          <a:prstGeom prst="roundRect">
            <a:avLst>
              <a:gd name="adj" fmla="val 4000"/>
            </a:avLst>
          </a:prstGeom>
          <a:solidFill>
            <a:srgbClr val="0C2038"/>
          </a:solidFill>
          <a:ln w="17780">
            <a:solidFill>
              <a:srgbClr val="E7C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22500" y="1924050"/>
            <a:ext cx="292100" cy="19050"/>
          </a:xfrm>
          <a:prstGeom prst="rect">
            <a:avLst/>
          </a:prstGeom>
          <a:solidFill>
            <a:srgbClr val="E7C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900" y="1841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E7CC86"/>
                </a:solidFill>
                <a:latin typeface="Poppins"/>
              </a:rPr>
              <a:t>Capítulo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2500" y="2286000"/>
            <a:ext cx="7747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Cormorant Garamond"/>
              </a:rPr>
              <a:t>Método Domínio</a:t>
            </a:r>
          </a:p>
          <a:p>
            <a:pPr>
              <a:lnSpc>
                <a:spcPct val="105000"/>
              </a:lnSpc>
            </a:pPr>
            <a:r>
              <a:rPr sz="5200" b="1" i="0">
                <a:solidFill>
                  <a:srgbClr val="E7CC86"/>
                </a:solidFill>
                <a:latin typeface="Cormorant Garamond"/>
              </a:rPr>
              <a:t>[ </a:t>
            </a:r>
            <a:r>
              <a:rPr sz="5200" b="1" i="0">
                <a:solidFill>
                  <a:srgbClr val="FFFFFF"/>
                </a:solidFill>
                <a:latin typeface="Cormorant Garamond"/>
              </a:rPr>
              <a:t>Competitivo®</a:t>
            </a:r>
            <a:r>
              <a:rPr sz="5200" b="1" i="0">
                <a:solidFill>
                  <a:srgbClr val="E7CC86"/>
                </a:solidFill>
                <a:latin typeface="Cormorant Garamond"/>
              </a:rPr>
              <a:t>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5200" y="4381500"/>
            <a:ext cx="952500" cy="19050"/>
          </a:xfrm>
          <a:prstGeom prst="rect">
            <a:avLst/>
          </a:prstGeom>
          <a:solidFill>
            <a:srgbClr val="E7C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2000" y="42799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E7DCC0"/>
                </a:solidFill>
                <a:latin typeface="Poppins"/>
              </a:rPr>
              <a:t>O caminho para se tornar a primeira escolha.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38 — 52   MÉTODO DOMÍNIO COMPETITIVO</a:t>
            </a:r>
          </a:p>
        </p:txBody>
      </p:sp>
      <p:pic>
        <p:nvPicPr>
          <p:cNvPr id="6" name="Picture 5" descr="rm_sym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0" y="2286000"/>
            <a:ext cx="2286000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5500" y="12890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1900" y="1206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O Método Domínio Competitivo®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1549400"/>
            <a:ext cx="762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800" b="1" i="0">
                <a:solidFill>
                  <a:srgbClr val="FFFFFF"/>
                </a:solidFill>
                <a:latin typeface="Cormorant Garamond"/>
              </a:rPr>
              <a:t>Um sistema autoral de construção de </a:t>
            </a:r>
            <a:r>
              <a:rPr sz="28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800" b="1" i="0">
                <a:solidFill>
                  <a:srgbClr val="FFFFFF"/>
                </a:solidFill>
                <a:latin typeface="Cormorant Garamond"/>
              </a:rPr>
              <a:t>preferência</a:t>
            </a:r>
            <a:r>
              <a:rPr sz="28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26035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D9DCE1"/>
                </a:solidFill>
                <a:latin typeface="Poppins"/>
              </a:rPr>
              <a:t>O Método orienta empresas 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2895600"/>
            <a:ext cx="7620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definir sua direção estratégica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compreender os critérios que determinam as escolhas dos clientes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120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200" b="0" i="0">
                <a:solidFill>
                  <a:srgbClr val="D9DCE1"/>
                </a:solidFill>
                <a:latin typeface="Poppins"/>
              </a:rPr>
              <a:t>construir uma posição clara, relevante e difícil de copiar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4191000"/>
            <a:ext cx="7620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D9DCE1"/>
                </a:solidFill>
                <a:latin typeface="Poppins"/>
              </a:rPr>
              <a:t>Seu propósito: transformar empresas substituíveis em organizações capazes de se tornar a primeira escolha do mercado em que decidiram competir.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39 — 52   MÉTODO DOMÍNIO COMPETITIVO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4826000" cy="6858000"/>
          </a:xfrm>
          <a:prstGeom prst="roundRect">
            <a:avLst>
              <a:gd name="adj" fmla="val 9000"/>
            </a:avLst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4673600" cy="655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61000" y="10350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74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Sobre Ricardo Marafon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1000" y="1358900"/>
            <a:ext cx="5969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D9DCE1"/>
                </a:solidFill>
                <a:latin typeface="Poppins"/>
              </a:rPr>
              <a:t>Mestre em Administração Estratégica, executivo, conselheiro e mentor empresarial. Ao longo de mais de duas décadas, participou da construção e execução de estratégias de crescimento, posicionamento e diferenciação em organizações educacionais no Brasil e nos Estados Unidos.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0" y="2286000"/>
            <a:ext cx="5969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D9DCE1"/>
                </a:solidFill>
                <a:latin typeface="Poppins"/>
              </a:rPr>
              <a:t>Hoje dedica-se a ajudar empresários e líderes a construir vantagens difíceis de copiar e fortalecer o posicionamento de suas empresas.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0" y="3086100"/>
            <a:ext cx="5969000" cy="266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9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950" b="0" i="0">
                <a:solidFill>
                  <a:srgbClr val="D9DCE1"/>
                </a:solidFill>
                <a:latin typeface="Poppins"/>
              </a:rPr>
              <a:t>Mestre em Administração Estratégica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9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950" b="0" i="0">
                <a:solidFill>
                  <a:srgbClr val="D9DCE1"/>
                </a:solidFill>
                <a:latin typeface="Poppins"/>
              </a:rPr>
              <a:t>Mais de 20 anos em liderança, estratégia e desenvolvimento de negócios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9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950" b="0" i="0">
                <a:solidFill>
                  <a:srgbClr val="D9DCE1"/>
                </a:solidFill>
                <a:latin typeface="Poppins"/>
              </a:rPr>
              <a:t>Ex-Reitor, Diretor e Executivo de grandes grupos educacionais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9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950" b="0" i="0">
                <a:solidFill>
                  <a:srgbClr val="D9DCE1"/>
                </a:solidFill>
                <a:latin typeface="Poppins"/>
              </a:rPr>
              <a:t>Sócio e Vice-Presidente da University SEAL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9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950" b="0" i="0">
                <a:solidFill>
                  <a:srgbClr val="D9DCE1"/>
                </a:solidFill>
                <a:latin typeface="Poppins"/>
              </a:rPr>
              <a:t>Conselheiro, mentor e palestrante em estratégia empresarial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9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950" b="0" i="0">
                <a:solidFill>
                  <a:srgbClr val="D9DCE1"/>
                </a:solidFill>
                <a:latin typeface="Poppins"/>
              </a:rPr>
              <a:t>Criador do método Domínio Competitivo®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40 — 52   MÉTODO DOMÍNIO COMPETITIVO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0350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Níveis de evolução competitiva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270000"/>
            <a:ext cx="8890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800" b="1" i="0">
                <a:solidFill>
                  <a:srgbClr val="0A1B31"/>
                </a:solidFill>
                <a:latin typeface="Cormorant Garamond"/>
              </a:rPr>
              <a:t>Da sobrevivência ao </a:t>
            </a:r>
            <a:r>
              <a:rPr sz="28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2800" b="1" i="0">
                <a:solidFill>
                  <a:srgbClr val="0A1B31"/>
                </a:solidFill>
                <a:latin typeface="Cormorant Garamond"/>
              </a:rPr>
              <a:t>domínio</a:t>
            </a:r>
            <a:r>
              <a:rPr sz="2800" b="1" i="0">
                <a:solidFill>
                  <a:srgbClr val="9C7B33"/>
                </a:solidFill>
                <a:latin typeface="Cormorant Garamond"/>
              </a:rPr>
              <a:t>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1905000"/>
            <a:ext cx="1028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AAB2BD"/>
                </a:solidFill>
                <a:latin typeface="Poppins"/>
              </a:rPr>
              <a:t>Empresas evoluem quando constroem uma posição cada vez mais relevante, diferenciada e difícil de substituir.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" y="2540000"/>
            <a:ext cx="1905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26924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9C7B33"/>
                </a:solidFill>
                <a:latin typeface="Cormorant Garamon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3136900"/>
            <a:ext cx="1625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Sobrevivência competitiva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708400"/>
            <a:ext cx="16256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A475A"/>
                </a:solidFill>
                <a:latin typeface="Poppins"/>
              </a:rPr>
              <a:t>Reage ao mercado, concentra esforços em vender e manter a operação.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2900" y="2540000"/>
            <a:ext cx="1905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2600" y="26924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9C7B33"/>
                </a:solidFill>
                <a:latin typeface="Cormorant Garamon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2600" y="3136900"/>
            <a:ext cx="1625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Eficiência operacional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2600" y="3708400"/>
            <a:ext cx="16256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A475A"/>
                </a:solidFill>
                <a:latin typeface="Poppins"/>
              </a:rPr>
              <a:t>Melhora processos e produtividade, mas ainda parece semelhante aos concorrentes.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0300" y="2540000"/>
            <a:ext cx="1905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000" y="26924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9C7B33"/>
                </a:solidFill>
                <a:latin typeface="Cormorant Garamon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0" y="3136900"/>
            <a:ext cx="1625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Diferenciação competitiva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0" y="3708400"/>
            <a:ext cx="16256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A475A"/>
                </a:solidFill>
                <a:latin typeface="Poppins"/>
              </a:rPr>
              <a:t>Constrói atributos relevantes que justificam a escolha — ainda não consolidados.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7700" y="2540000"/>
            <a:ext cx="1905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7400" y="26924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9C7B33"/>
                </a:solidFill>
                <a:latin typeface="Cormorant Garamon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7400" y="3136900"/>
            <a:ext cx="1625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Preferência competitiva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7400" y="3708400"/>
            <a:ext cx="16256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A475A"/>
                </a:solidFill>
                <a:latin typeface="Poppins"/>
              </a:rPr>
              <a:t>O cliente reconhece diferença, atribui mais valor e reduz a sensibilidade ao preço.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5100" y="2540000"/>
            <a:ext cx="1905000" cy="2984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4800" y="2692400"/>
            <a:ext cx="1625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9C7B33"/>
                </a:solidFill>
                <a:latin typeface="Cormorant Garamon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800" y="3136900"/>
            <a:ext cx="1625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Domínio Competitivo®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4800" y="3708400"/>
            <a:ext cx="16256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3A475A"/>
                </a:solidFill>
                <a:latin typeface="Poppins"/>
              </a:rPr>
              <a:t>Ocupa posição singular, torna-se referência e a primeira escolha do público.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41 — 52   MÉTODO DOMÍNIO COMPETITIVO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479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1397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Visão geral do método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778000"/>
            <a:ext cx="4064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300" b="1" i="0">
                <a:solidFill>
                  <a:srgbClr val="FFFFFF"/>
                </a:solidFill>
                <a:latin typeface="Cormorant Garamond"/>
              </a:rPr>
              <a:t>Cada degrau aproxima</a:t>
            </a:r>
          </a:p>
          <a:p>
            <a:pPr>
              <a:lnSpc>
                <a:spcPct val="104000"/>
              </a:lnSpc>
            </a:pPr>
            <a:r>
              <a:rPr sz="2300" b="1" i="0">
                <a:solidFill>
                  <a:srgbClr val="FFFFFF"/>
                </a:solidFill>
                <a:latin typeface="Cormorant Garamond"/>
              </a:rPr>
              <a:t>a empresa de ser </a:t>
            </a:r>
            <a:r>
              <a:rPr sz="23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300" b="1" i="0">
                <a:solidFill>
                  <a:srgbClr val="FFFFFF"/>
                </a:solidFill>
                <a:latin typeface="Cormorant Garamond"/>
              </a:rPr>
              <a:t>referência</a:t>
            </a:r>
            <a:r>
              <a:rPr sz="23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3556000"/>
            <a:ext cx="9525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07000" y="1428750"/>
            <a:ext cx="6096000" cy="3873500"/>
          </a:xfrm>
          <a:prstGeom prst="roundRect">
            <a:avLst>
              <a:gd name="adj" fmla="val 3000"/>
            </a:avLst>
          </a:prstGeom>
          <a:noFill/>
          <a:ln w="1778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555750"/>
            <a:ext cx="58420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42 — 52   MÉTODO DOMÍNIO COMPETITIVO</a:t>
            </a:r>
          </a:p>
        </p:txBody>
      </p:sp>
      <p:pic>
        <p:nvPicPr>
          <p:cNvPr id="6" name="Picture 5" descr="image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43000"/>
            <a:ext cx="4064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78500" y="10985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4900" y="1016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O papel estratégico do empresário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8500" y="15621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6A25C"/>
                </a:solidFill>
                <a:latin typeface="Cormorant Garamon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700" y="15875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Definir a direção estratégica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950" b="0" i="0">
                <a:solidFill>
                  <a:srgbClr val="D9DCE1"/>
                </a:solidFill>
                <a:latin typeface="Poppins"/>
              </a:rPr>
              <a:t>Uma visão clara de futuro que oriente decisões e investimentos.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8500" y="21717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6A25C"/>
                </a:solidFill>
                <a:latin typeface="Cormorant Garamon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21971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Construir diferenciação percebida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950" b="0" i="0">
                <a:solidFill>
                  <a:srgbClr val="D9DCE1"/>
                </a:solidFill>
                <a:latin typeface="Poppins"/>
              </a:rPr>
              <a:t>Atributos que tornem a empresa única e preferida.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8500" y="26289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6A25C"/>
                </a:solidFill>
                <a:latin typeface="Cormorant Garamon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26543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Gerar valor superior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950" b="0" i="0">
                <a:solidFill>
                  <a:srgbClr val="D9DCE1"/>
                </a:solidFill>
                <a:latin typeface="Poppins"/>
              </a:rPr>
              <a:t>Benefícios que justifiquem a escolha entre as alternativas.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8500" y="30861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6A25C"/>
                </a:solidFill>
                <a:latin typeface="Cormorant Garamon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700" y="31115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Antecipar o futuro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950" b="0" i="0">
                <a:solidFill>
                  <a:srgbClr val="D9DCE1"/>
                </a:solidFill>
                <a:latin typeface="Poppins"/>
              </a:rPr>
              <a:t>Agir sobre tendências antes que o mercado exija resposta.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8500" y="35433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6A25C"/>
                </a:solidFill>
                <a:latin typeface="Cormorant Garamond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2700" y="3568700"/>
            <a:ext cx="5130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Liderar a evolução contínua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950" b="0" i="0">
                <a:solidFill>
                  <a:srgbClr val="D9DCE1"/>
                </a:solidFill>
                <a:latin typeface="Poppins"/>
              </a:rPr>
              <a:t>Adaptações e inovações constantes para manter a competitividade.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8A7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43 — 52   MENTORIA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0" y="3556000"/>
            <a:ext cx="4318000" cy="330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0" b="1" i="0">
                <a:solidFill>
                  <a:srgbClr val="6E5C2E"/>
                </a:solidFill>
                <a:latin typeface="Cormorant Garamond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51000" y="952500"/>
            <a:ext cx="8890000" cy="4953000"/>
          </a:xfrm>
          <a:prstGeom prst="roundRect">
            <a:avLst>
              <a:gd name="adj" fmla="val 4000"/>
            </a:avLst>
          </a:prstGeom>
          <a:solidFill>
            <a:srgbClr val="0C2038"/>
          </a:solidFill>
          <a:ln w="17780">
            <a:solidFill>
              <a:srgbClr val="E7C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22500" y="1924050"/>
            <a:ext cx="292100" cy="19050"/>
          </a:xfrm>
          <a:prstGeom prst="rect">
            <a:avLst/>
          </a:prstGeom>
          <a:solidFill>
            <a:srgbClr val="E7C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900" y="1841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E7CC86"/>
                </a:solidFill>
                <a:latin typeface="Poppins"/>
              </a:rPr>
              <a:t>A jornada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2500" y="2286000"/>
            <a:ext cx="7747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Cormorant Garamond"/>
              </a:rPr>
              <a:t>Mentoria Domínio</a:t>
            </a:r>
          </a:p>
          <a:p>
            <a:pPr>
              <a:lnSpc>
                <a:spcPct val="105000"/>
              </a:lnSpc>
            </a:pPr>
            <a:r>
              <a:rPr sz="5200" b="1" i="0">
                <a:solidFill>
                  <a:srgbClr val="E7CC86"/>
                </a:solidFill>
                <a:latin typeface="Cormorant Garamond"/>
              </a:rPr>
              <a:t>[ </a:t>
            </a:r>
            <a:r>
              <a:rPr sz="5200" b="1" i="0">
                <a:solidFill>
                  <a:srgbClr val="FFFFFF"/>
                </a:solidFill>
                <a:latin typeface="Cormorant Garamond"/>
              </a:rPr>
              <a:t>Competitivo®</a:t>
            </a:r>
            <a:r>
              <a:rPr sz="5200" b="1" i="0">
                <a:solidFill>
                  <a:srgbClr val="E7CC86"/>
                </a:solidFill>
                <a:latin typeface="Cormorant Garamond"/>
              </a:rPr>
              <a:t>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5200" y="4381500"/>
            <a:ext cx="952500" cy="19050"/>
          </a:xfrm>
          <a:prstGeom prst="rect">
            <a:avLst/>
          </a:prstGeom>
          <a:solidFill>
            <a:srgbClr val="E7C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2000" y="42799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E7DCC0"/>
                </a:solidFill>
                <a:latin typeface="Poppins"/>
              </a:rPr>
              <a:t>O caminho para se tornar a primeira escolha.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44 — 52   MENTORIA INDIVIDUAL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0350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O que será construído com a mentoria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270000"/>
            <a:ext cx="952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600" b="1" i="0">
                <a:solidFill>
                  <a:srgbClr val="0A1B31"/>
                </a:solidFill>
                <a:latin typeface="Cormorant Garamond"/>
              </a:rPr>
              <a:t>Uma </a:t>
            </a:r>
            <a:r>
              <a:rPr sz="26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2600" b="1" i="0">
                <a:solidFill>
                  <a:srgbClr val="0A1B31"/>
                </a:solidFill>
                <a:latin typeface="Cormorant Garamond"/>
              </a:rPr>
              <a:t>arquitetura estratégica</a:t>
            </a:r>
            <a:r>
              <a:rPr sz="2600" b="1" i="0">
                <a:solidFill>
                  <a:srgbClr val="9C7B33"/>
                </a:solidFill>
                <a:latin typeface="Cormorant Garamond"/>
              </a:rPr>
              <a:t> ]</a:t>
            </a:r>
            <a:r>
              <a:rPr sz="2600" b="1" i="0">
                <a:solidFill>
                  <a:srgbClr val="0A1B31"/>
                </a:solidFill>
                <a:latin typeface="Cormorant Garamond"/>
              </a:rPr>
              <a:t> própria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1905000"/>
            <a:ext cx="1028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AB2BD"/>
                </a:solidFill>
                <a:latin typeface="Poppins"/>
              </a:rPr>
              <a:t>Ao final da jornada, sua empresa terá uma arquitetura própria para ampliar diferenciação, valor percebido e preferência.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" y="2540000"/>
            <a:ext cx="24765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7900" y="2705100"/>
            <a:ext cx="21717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C7B33"/>
                </a:solidFill>
                <a:latin typeface="Cormorant Garamon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900" y="3060700"/>
            <a:ext cx="2171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Diagnóstico da Posição Competitiva Atual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7100" y="2540000"/>
            <a:ext cx="24765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500" y="2705100"/>
            <a:ext cx="21717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C7B33"/>
                </a:solidFill>
                <a:latin typeface="Cormorant Garamon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060700"/>
            <a:ext cx="2171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Mapa Competitivo Comparativo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700" y="2540000"/>
            <a:ext cx="24765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1100" y="2705100"/>
            <a:ext cx="21717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C7B33"/>
                </a:solidFill>
                <a:latin typeface="Cormorant Garamon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1100" y="3060700"/>
            <a:ext cx="2171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Perfil Competitivo Futuro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0300" y="2540000"/>
            <a:ext cx="24765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2700" y="2705100"/>
            <a:ext cx="21717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C7B33"/>
                </a:solidFill>
                <a:latin typeface="Cormorant Garamon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2700" y="3060700"/>
            <a:ext cx="2171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Estratégia de Diferenciação e Preferência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500" y="3848100"/>
            <a:ext cx="24765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00" y="4013200"/>
            <a:ext cx="21717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C7B33"/>
                </a:solidFill>
                <a:latin typeface="Cormorant Garamon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900" y="4368800"/>
            <a:ext cx="2171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Posicionamento, Expansão e Monetização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67100" y="3848100"/>
            <a:ext cx="24765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9500" y="4013200"/>
            <a:ext cx="21717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C7B33"/>
                </a:solidFill>
                <a:latin typeface="Cormorant Garamond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9500" y="4368800"/>
            <a:ext cx="2171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Identidade Estratégica da Organização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08700" y="3848100"/>
            <a:ext cx="24765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1100" y="4013200"/>
            <a:ext cx="21717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C7B33"/>
                </a:solidFill>
                <a:latin typeface="Cormorant Garamond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1100" y="4368800"/>
            <a:ext cx="2171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Balanced Scorecard e Prioridades Estratégicas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0300" y="3848100"/>
            <a:ext cx="24765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02700" y="4013200"/>
            <a:ext cx="21717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C7B33"/>
                </a:solidFill>
                <a:latin typeface="Cormorant Garamond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2700" y="4368800"/>
            <a:ext cx="2171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A1B31"/>
                </a:solidFill>
                <a:latin typeface="Cormorant Garamond"/>
              </a:rPr>
              <a:t>Direcionamentos para Execução e Evolução Competitiva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45 — 52   MENTORIA INDIVIDUAL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0350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Como funciona a mentoria 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270000"/>
            <a:ext cx="8890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800" b="1" i="0">
                <a:solidFill>
                  <a:srgbClr val="0A1B31"/>
                </a:solidFill>
                <a:latin typeface="Cormorant Garamond"/>
              </a:rPr>
              <a:t>Uma jornada </a:t>
            </a:r>
            <a:r>
              <a:rPr sz="28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2800" b="1" i="0">
                <a:solidFill>
                  <a:srgbClr val="0A1B31"/>
                </a:solidFill>
                <a:latin typeface="Cormorant Garamond"/>
              </a:rPr>
              <a:t>personalizada</a:t>
            </a:r>
            <a:r>
              <a:rPr sz="2800" b="1" i="0">
                <a:solidFill>
                  <a:srgbClr val="9C7B33"/>
                </a:solidFill>
                <a:latin typeface="Cormorant Garamond"/>
              </a:rPr>
              <a:t>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1905000"/>
            <a:ext cx="10287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AAB2BD"/>
                </a:solidFill>
                <a:latin typeface="Poppins"/>
              </a:rPr>
              <a:t>Construída a partir da realidade da sua empresa.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25400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9C7B33"/>
                </a:solidFill>
                <a:latin typeface="Cormorant Garamon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25781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Diagnóstico da posição competitiva atual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31115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9C7B33"/>
                </a:solidFill>
                <a:latin typeface="Cormorant Garamon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31496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Mapeamento competitivo do 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00" y="36830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9C7B33"/>
                </a:solidFill>
                <a:latin typeface="Cormorant Garamon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37211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Definição do perfil competitivo futuro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00" y="42545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9C7B33"/>
                </a:solidFill>
                <a:latin typeface="Cormorant Garamon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42926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Construção da estratégia de diferenciação e preferência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9500" y="25400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9C7B33"/>
                </a:solidFill>
                <a:latin typeface="Cormorant Garamon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25781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Refinamento do posicionamento, expansão e monetização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9500" y="31115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9C7B33"/>
                </a:solidFill>
                <a:latin typeface="Cormorant Garamond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31496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Desenvolvimento da identidade estratégica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9500" y="36830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9C7B33"/>
                </a:solidFill>
                <a:latin typeface="Cormorant Garamond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37211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Estruturação do Balanced Scorecard e das prioridades estratégicas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9500" y="42545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9C7B33"/>
                </a:solidFill>
                <a:latin typeface="Cormorant Garamond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42926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75A"/>
                </a:solidFill>
                <a:latin typeface="Poppins"/>
              </a:rPr>
              <a:t>Direcionamento para execução e evolução competitiva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00" y="4953000"/>
            <a:ext cx="10287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1">
                <a:solidFill>
                  <a:srgbClr val="3A475A"/>
                </a:solidFill>
                <a:latin typeface="Poppins"/>
              </a:rPr>
              <a:t>Não é uma mentoria baseada em aulas genéricas. É um processo individual de análise, decisão e construção estratégica.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46 — 52   MENTORIA INDIVIDUAL</a:t>
            </a:r>
          </a:p>
        </p:txBody>
      </p:sp>
      <p:pic>
        <p:nvPicPr>
          <p:cNvPr id="6" name="Picture 5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905000"/>
            <a:ext cx="508000" cy="50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24000" y="21018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0400" y="2019300"/>
            <a:ext cx="444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Certificação internacional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667000"/>
            <a:ext cx="4572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800" b="1" i="0">
                <a:solidFill>
                  <a:srgbClr val="FFFFFF"/>
                </a:solidFill>
                <a:latin typeface="Cormorant Garamond"/>
              </a:rPr>
              <a:t>Um selo que </a:t>
            </a:r>
            <a:r>
              <a:rPr sz="28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800" b="1" i="0">
                <a:solidFill>
                  <a:srgbClr val="FFFFFF"/>
                </a:solidFill>
                <a:latin typeface="Cormorant Garamond"/>
              </a:rPr>
              <a:t>chancela</a:t>
            </a:r>
            <a:r>
              <a:rPr sz="28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3810000"/>
            <a:ext cx="4064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D9DCE1"/>
                </a:solidFill>
                <a:latin typeface="Poppins"/>
              </a:rPr>
              <a:t>Ao concluir o programa, o participante recebe um certificado executivo internacional em estratégia competitiva e posicionamento de mercado.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05500" y="1397000"/>
            <a:ext cx="533400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778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0" y="1619250"/>
            <a:ext cx="4889500" cy="3365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47 — 52   DIAGNÓSTICO COMPETITIVO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0350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Antes da mentoria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270000"/>
            <a:ext cx="952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500" b="1" i="0">
                <a:solidFill>
                  <a:srgbClr val="FFFFFF"/>
                </a:solidFill>
                <a:latin typeface="Cormorant Garamond"/>
              </a:rPr>
              <a:t>É preciso compreender o </a:t>
            </a:r>
            <a:r>
              <a:rPr sz="25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500" b="1" i="0">
                <a:solidFill>
                  <a:srgbClr val="FFFFFF"/>
                </a:solidFill>
                <a:latin typeface="Cormorant Garamond"/>
              </a:rPr>
              <a:t>ponto de partida</a:t>
            </a:r>
            <a:r>
              <a:rPr sz="25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1905000"/>
            <a:ext cx="990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D9DCE1"/>
                </a:solidFill>
                <a:latin typeface="Poppins"/>
              </a:rPr>
              <a:t>Antes de iniciar uma Mentoria Individual, preciso compreender o estágio atual da empresa e avaliar se uma jornada estratégica completa faz sentido. Isso exige identificar: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" y="2730500"/>
            <a:ext cx="1905000" cy="1143000"/>
          </a:xfrm>
          <a:prstGeom prst="roundRect">
            <a:avLst>
              <a:gd name="adj" fmla="val 6000"/>
            </a:avLst>
          </a:prstGeom>
          <a:solidFill>
            <a:srgbClr val="0C2038"/>
          </a:solidFill>
          <a:ln w="12700">
            <a:solidFill>
              <a:srgbClr val="243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2870200"/>
            <a:ext cx="1625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6A25C"/>
                </a:solidFill>
                <a:latin typeface="Cormorant Garamon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3238500"/>
            <a:ext cx="16256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D9DCE1"/>
                </a:solidFill>
                <a:latin typeface="Poppins"/>
              </a:rPr>
              <a:t>Qual posição a empresa ocupa hoje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8450" y="2730500"/>
            <a:ext cx="1905000" cy="1143000"/>
          </a:xfrm>
          <a:prstGeom prst="roundRect">
            <a:avLst>
              <a:gd name="adj" fmla="val 6000"/>
            </a:avLst>
          </a:prstGeom>
          <a:solidFill>
            <a:srgbClr val="0C2038"/>
          </a:solidFill>
          <a:ln w="12700">
            <a:solidFill>
              <a:srgbClr val="243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8150" y="2870200"/>
            <a:ext cx="1625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6A25C"/>
                </a:solidFill>
                <a:latin typeface="Cormorant Garamon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8150" y="3238500"/>
            <a:ext cx="16256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D9DCE1"/>
                </a:solidFill>
                <a:latin typeface="Poppins"/>
              </a:rPr>
              <a:t>O que limita a sua diferenciação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1400" y="2730500"/>
            <a:ext cx="1905000" cy="1143000"/>
          </a:xfrm>
          <a:prstGeom prst="roundRect">
            <a:avLst>
              <a:gd name="adj" fmla="val 6000"/>
            </a:avLst>
          </a:prstGeom>
          <a:solidFill>
            <a:srgbClr val="0C2038"/>
          </a:solidFill>
          <a:ln w="12700">
            <a:solidFill>
              <a:srgbClr val="243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1100" y="2870200"/>
            <a:ext cx="1625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6A25C"/>
                </a:solidFill>
                <a:latin typeface="Cormorant Garamon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1100" y="3238500"/>
            <a:ext cx="16256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D9DCE1"/>
                </a:solidFill>
                <a:latin typeface="Poppins"/>
              </a:rPr>
              <a:t>Onde estão as oportunidades competitivas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64350" y="2730500"/>
            <a:ext cx="1905000" cy="1143000"/>
          </a:xfrm>
          <a:prstGeom prst="roundRect">
            <a:avLst>
              <a:gd name="adj" fmla="val 6000"/>
            </a:avLst>
          </a:prstGeom>
          <a:solidFill>
            <a:srgbClr val="0C2038"/>
          </a:solidFill>
          <a:ln w="12700">
            <a:solidFill>
              <a:srgbClr val="243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4050" y="2870200"/>
            <a:ext cx="1625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6A25C"/>
                </a:solidFill>
                <a:latin typeface="Cormorant Garamon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050" y="3238500"/>
            <a:ext cx="16256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D9DCE1"/>
                </a:solidFill>
                <a:latin typeface="Poppins"/>
              </a:rPr>
              <a:t>Quais mudanças precisam ser priorizadas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77300" y="2730500"/>
            <a:ext cx="1905000" cy="1143000"/>
          </a:xfrm>
          <a:prstGeom prst="roundRect">
            <a:avLst>
              <a:gd name="adj" fmla="val 6000"/>
            </a:avLst>
          </a:prstGeom>
          <a:solidFill>
            <a:srgbClr val="0C2038"/>
          </a:solidFill>
          <a:ln w="12700">
            <a:solidFill>
              <a:srgbClr val="2439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7000" y="2870200"/>
            <a:ext cx="1625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6A25C"/>
                </a:solidFill>
                <a:latin typeface="Cormorant Garamon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7000" y="3238500"/>
            <a:ext cx="16256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D9DCE1"/>
                </a:solidFill>
                <a:latin typeface="Poppins"/>
              </a:rPr>
              <a:t>Se há disposição real para transformar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500" y="4127500"/>
            <a:ext cx="9906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D9DCE1"/>
                </a:solidFill>
                <a:latin typeface="Poppins"/>
              </a:rPr>
              <a:t>A Mentoria exige investimento, comprometimento e envolvimento de ambos os lados. Por isso, precisamos avaliar se existem as condições necessárias para percorrê-la.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00" y="4953000"/>
            <a:ext cx="9906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1">
                <a:solidFill>
                  <a:srgbClr val="E7CC86"/>
                </a:solidFill>
                <a:latin typeface="Cormorant Garamond"/>
              </a:rPr>
              <a:t>Foi por isso que criei uma condição especial e exclusiva para os participantes desta Masterclass.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48 — 52   DIAGNÓSTICO COMPETITIVO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6000" y="0"/>
            <a:ext cx="4826000" cy="6858000"/>
          </a:xfrm>
          <a:prstGeom prst="roundRect">
            <a:avLst>
              <a:gd name="adj" fmla="val 9000"/>
            </a:avLst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rafon_especialis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152400"/>
            <a:ext cx="4673600" cy="655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52500" y="10350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89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Sessão de Diagnóstico Competitivo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295400"/>
            <a:ext cx="5969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600" b="1" i="0">
                <a:solidFill>
                  <a:srgbClr val="FFFFFF"/>
                </a:solidFill>
                <a:latin typeface="Cormorant Garamond"/>
              </a:rPr>
              <a:t>90 minutos de análise </a:t>
            </a:r>
            <a:r>
              <a:rPr sz="26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600" b="1" i="0">
                <a:solidFill>
                  <a:srgbClr val="FFFFFF"/>
                </a:solidFill>
                <a:latin typeface="Cormorant Garamond"/>
              </a:rPr>
              <a:t>individual</a:t>
            </a:r>
            <a:r>
              <a:rPr sz="26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032000"/>
            <a:ext cx="5969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D9DCE1"/>
                </a:solidFill>
                <a:latin typeface="Poppins"/>
              </a:rPr>
              <a:t>Uma sessão estratégica dedicada a compreender a posição competitiva atual da sua empresa, identificar os fatores que limitam sua diferenciação e avaliar os próximos passos da sua evolução competitiva.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984500"/>
            <a:ext cx="5969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80" cap="all">
                <a:solidFill>
                  <a:srgbClr val="C6A25C"/>
                </a:solidFill>
                <a:latin typeface="Poppins"/>
              </a:rPr>
              <a:t>AO FINAL, VOCÊ TERÁ CLAREZA SOBRE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276600"/>
            <a:ext cx="5969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0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D9DCE1"/>
                </a:solidFill>
                <a:latin typeface="Poppins"/>
              </a:rPr>
              <a:t>os principais bloqueios competitivos da empresa</a:t>
            </a:r>
          </a:p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0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D9DCE1"/>
                </a:solidFill>
                <a:latin typeface="Poppins"/>
              </a:rPr>
              <a:t>as oportunidades de diferenciação ainda não exploradas</a:t>
            </a:r>
          </a:p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0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D9DCE1"/>
                </a:solidFill>
                <a:latin typeface="Poppins"/>
              </a:rPr>
              <a:t>os riscos de permanecer na posição atual</a:t>
            </a:r>
          </a:p>
          <a:p>
            <a:pPr>
              <a:lnSpc>
                <a:spcPct val="116000"/>
              </a:lnSpc>
              <a:spcAft>
                <a:spcPts val="500"/>
              </a:spcAft>
            </a:pPr>
            <a:r>
              <a:rPr sz="1050" b="1" i="0">
                <a:solidFill>
                  <a:srgbClr val="C6A25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D9DCE1"/>
                </a:solidFill>
                <a:latin typeface="Poppins"/>
              </a:rPr>
              <a:t>as prioridades que devem orientar seus próximos movimentos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826000"/>
            <a:ext cx="596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1">
                <a:solidFill>
                  <a:srgbClr val="AAB2BD"/>
                </a:solidFill>
                <a:latin typeface="Poppins"/>
              </a:rPr>
              <a:t>Não é uma reunião comercial. É uma sessão estratégica de trabalho dedicada à realidade competitiva da sua empresa.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DAD3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9C7B33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0A1B31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68072"/>
                </a:solidFill>
                <a:latin typeface="Poppins"/>
              </a:rPr>
              <a:t>49 — 52   DIAGNÓSTICO COMPETITIVO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035050"/>
            <a:ext cx="292100" cy="19050"/>
          </a:xfrm>
          <a:prstGeom prst="rect">
            <a:avLst/>
          </a:prstGeom>
          <a:solidFill>
            <a:srgbClr val="9C7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9C7B33"/>
                </a:solidFill>
                <a:latin typeface="Poppins"/>
              </a:rPr>
              <a:t>Como funciona a sessão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270000"/>
            <a:ext cx="952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600" b="1" i="0">
                <a:solidFill>
                  <a:srgbClr val="0A1B31"/>
                </a:solidFill>
                <a:latin typeface="Cormorant Garamond"/>
              </a:rPr>
              <a:t>Três etapas, </a:t>
            </a:r>
            <a:r>
              <a:rPr sz="2600" b="1" i="0">
                <a:solidFill>
                  <a:srgbClr val="9C7B33"/>
                </a:solidFill>
                <a:latin typeface="Cormorant Garamond"/>
              </a:rPr>
              <a:t>[ </a:t>
            </a:r>
            <a:r>
              <a:rPr sz="2600" b="1" i="0">
                <a:solidFill>
                  <a:srgbClr val="0A1B31"/>
                </a:solidFill>
                <a:latin typeface="Cormorant Garamond"/>
              </a:rPr>
              <a:t>90 minutos bem usados</a:t>
            </a:r>
            <a:r>
              <a:rPr sz="2600" b="1" i="0">
                <a:solidFill>
                  <a:srgbClr val="9C7B33"/>
                </a:solidFill>
                <a:latin typeface="Cormorant Garamond"/>
              </a:rPr>
              <a:t>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1905000"/>
            <a:ext cx="10287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AAB2BD"/>
                </a:solidFill>
                <a:latin typeface="Poppins"/>
              </a:rPr>
              <a:t>Um processo preparado para aproveitar ao máximo cada minuto.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" y="2540000"/>
            <a:ext cx="3175000" cy="215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2730500"/>
            <a:ext cx="279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9C7B33"/>
                </a:solidFill>
                <a:latin typeface="Cormorant Garamond"/>
              </a:rPr>
              <a:t>01  </a:t>
            </a:r>
            <a:r>
              <a:rPr sz="1500" b="1" i="0">
                <a:solidFill>
                  <a:srgbClr val="0A1B31"/>
                </a:solidFill>
                <a:latin typeface="Cormorant Garamond"/>
              </a:rPr>
              <a:t>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276600"/>
            <a:ext cx="2794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A475A"/>
                </a:solidFill>
                <a:latin typeface="Poppins"/>
              </a:rPr>
              <a:t>Formulário estratégico e análise prévia da empresa, do mercado e dos concorrentes.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1000" y="2540000"/>
            <a:ext cx="3175000" cy="215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1500" y="2730500"/>
            <a:ext cx="279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9C7B33"/>
                </a:solidFill>
                <a:latin typeface="Cormorant Garamond"/>
              </a:rPr>
              <a:t>02  </a:t>
            </a:r>
            <a:r>
              <a:rPr sz="1500" b="1" i="0">
                <a:solidFill>
                  <a:srgbClr val="0A1B31"/>
                </a:solidFill>
                <a:latin typeface="Cormorant Garamond"/>
              </a:rPr>
              <a:t>Durante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500" y="3276600"/>
            <a:ext cx="2794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A475A"/>
                </a:solidFill>
                <a:latin typeface="Poppins"/>
              </a:rPr>
              <a:t>Diagnóstico da posição atual, identificação dos bloqueios e definição de até três prioridades estratégicas.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56500" y="2540000"/>
            <a:ext cx="3175000" cy="215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7000" y="2730500"/>
            <a:ext cx="279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9C7B33"/>
                </a:solidFill>
                <a:latin typeface="Cormorant Garamond"/>
              </a:rPr>
              <a:t>03  </a:t>
            </a:r>
            <a:r>
              <a:rPr sz="1500" b="1" i="0">
                <a:solidFill>
                  <a:srgbClr val="0A1B31"/>
                </a:solidFill>
                <a:latin typeface="Cormorant Garamond"/>
              </a:rPr>
              <a:t>Depois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7000" y="3276600"/>
            <a:ext cx="2794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A475A"/>
                </a:solidFill>
                <a:latin typeface="Poppins"/>
              </a:rPr>
              <a:t>Envio de uma síntese com os principais direcionamentos identificados.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4889500"/>
            <a:ext cx="10287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1">
                <a:solidFill>
                  <a:srgbClr val="3A475A"/>
                </a:solidFill>
                <a:latin typeface="Poppins"/>
              </a:rPr>
              <a:t>A sessão começa antes do encontro, com a análise da realidade da sua empresa.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8A7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50 — 52   DIAGNÓSTICO COMPETITIVO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500" y="952500"/>
            <a:ext cx="5207000" cy="4953000"/>
          </a:xfrm>
          <a:prstGeom prst="roundRect">
            <a:avLst>
              <a:gd name="adj" fmla="val 4000"/>
            </a:avLst>
          </a:prstGeom>
          <a:solidFill>
            <a:srgbClr val="0C2038"/>
          </a:solidFill>
          <a:ln w="15240">
            <a:solidFill>
              <a:srgbClr val="E7C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479550"/>
            <a:ext cx="292100" cy="19050"/>
          </a:xfrm>
          <a:prstGeom prst="rect">
            <a:avLst/>
          </a:prstGeom>
          <a:solidFill>
            <a:srgbClr val="E7C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9400" y="13970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E7CC86"/>
                </a:solidFill>
                <a:latin typeface="Poppins"/>
              </a:rPr>
              <a:t>Condição exclusiva · Masterclass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78000"/>
            <a:ext cx="4572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500" b="1" i="0">
                <a:solidFill>
                  <a:srgbClr val="FFFFFF"/>
                </a:solidFill>
                <a:latin typeface="Cormorant Garamond"/>
              </a:rPr>
              <a:t>Sessão de Diagnóstico</a:t>
            </a:r>
          </a:p>
          <a:p>
            <a:pPr>
              <a:lnSpc>
                <a:spcPct val="104000"/>
              </a:lnSpc>
            </a:pPr>
            <a:r>
              <a:rPr sz="25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500" b="1" i="0">
                <a:solidFill>
                  <a:srgbClr val="FFFFFF"/>
                </a:solidFill>
                <a:latin typeface="Cormorant Garamond"/>
              </a:rPr>
              <a:t>Competitivo</a:t>
            </a:r>
            <a:r>
              <a:rPr sz="25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21000"/>
            <a:ext cx="4572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7EAF0"/>
                </a:solidFill>
                <a:latin typeface="Poppins"/>
              </a:rPr>
              <a:t>90 minutos de análise individual com Ricardo Marafon.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429000"/>
            <a:ext cx="4445000" cy="635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543300"/>
            <a:ext cx="457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E7CC86"/>
                </a:solidFill>
                <a:latin typeface="Cormorant Garamond"/>
              </a:rPr>
              <a:t>R$ 1.500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72000"/>
            <a:ext cx="457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EADFC6"/>
                </a:solidFill>
                <a:latin typeface="Poppins"/>
              </a:rPr>
              <a:t>Caso exista interesse mútuo em avançar para a Mentoria Individual, os R$ 1.500 serão integralmente considerados no valor da mentoria.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500" y="1143000"/>
            <a:ext cx="444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240" cap="all">
                <a:solidFill>
                  <a:srgbClr val="E7CC86"/>
                </a:solidFill>
                <a:latin typeface="Poppins"/>
              </a:rPr>
              <a:t>INCLUI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3500" y="1524000"/>
            <a:ext cx="4826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 i="0">
                <a:solidFill>
                  <a:srgbClr val="E7CC86"/>
                </a:solidFill>
                <a:latin typeface="Cormorant Garamond"/>
              </a:rPr>
              <a:t>✦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Formulário estratégico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 i="0">
                <a:solidFill>
                  <a:srgbClr val="E7CC86"/>
                </a:solidFill>
                <a:latin typeface="Cormorant Garamond"/>
              </a:rPr>
              <a:t>✦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Análise prévia da empresa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 i="0">
                <a:solidFill>
                  <a:srgbClr val="E7CC86"/>
                </a:solidFill>
                <a:latin typeface="Cormorant Garamond"/>
              </a:rPr>
              <a:t>✦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Sessão individual de 90 minutos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 i="0">
                <a:solidFill>
                  <a:srgbClr val="E7CC86"/>
                </a:solidFill>
                <a:latin typeface="Cormorant Garamond"/>
              </a:rPr>
              <a:t>✦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Identificação dos bloqueios competitivos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 i="0">
                <a:solidFill>
                  <a:srgbClr val="E7CC86"/>
                </a:solidFill>
                <a:latin typeface="Cormorant Garamond"/>
              </a:rPr>
              <a:t>✦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Definição de até três prioridades estratégicas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 i="0">
                <a:solidFill>
                  <a:srgbClr val="E7CC86"/>
                </a:solidFill>
                <a:latin typeface="Cormorant Garamond"/>
              </a:rPr>
              <a:t>✦  </a:t>
            </a:r>
            <a:r>
              <a:rPr sz="1100" b="0" i="0">
                <a:solidFill>
                  <a:srgbClr val="F1E9D5"/>
                </a:solidFill>
                <a:latin typeface="Poppins"/>
              </a:rPr>
              <a:t>Síntese dos principais direcionamentos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3500" y="4445000"/>
            <a:ext cx="952500" cy="952500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E7C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3500" y="4445000"/>
            <a:ext cx="9525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 spc="160" cap="all">
                <a:solidFill>
                  <a:srgbClr val="E7CC86"/>
                </a:solidFill>
                <a:latin typeface="Poppins"/>
              </a:rPr>
              <a:t>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0" y="4730750"/>
            <a:ext cx="317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0">
                <a:solidFill>
                  <a:srgbClr val="E7DCC0"/>
                </a:solidFill>
                <a:latin typeface="Poppins"/>
              </a:rPr>
              <a:t>Aponte para acessar o formulário de inscrição.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2A3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51 — 52   DIAGNÓSTICO COMPETITIVO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500" y="1035050"/>
            <a:ext cx="292100" cy="19050"/>
          </a:xfrm>
          <a:prstGeom prst="rect">
            <a:avLst/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1900" y="952500"/>
            <a:ext cx="9525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330" cap="all">
                <a:solidFill>
                  <a:srgbClr val="C6A25C"/>
                </a:solidFill>
                <a:latin typeface="Poppins"/>
              </a:rPr>
              <a:t>Garanta sua sessão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1295400"/>
            <a:ext cx="685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500" b="1" i="0">
                <a:solidFill>
                  <a:srgbClr val="FFFFFF"/>
                </a:solidFill>
                <a:latin typeface="Cormorant Garamond"/>
              </a:rPr>
              <a:t>Preencha o formulário e </a:t>
            </a:r>
            <a:r>
              <a:rPr sz="25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500" b="1" i="0">
                <a:solidFill>
                  <a:srgbClr val="FFFFFF"/>
                </a:solidFill>
                <a:latin typeface="Cormorant Garamond"/>
              </a:rPr>
              <a:t>conclua a inscrição</a:t>
            </a:r>
            <a:r>
              <a:rPr sz="25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2606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6A25C"/>
                </a:solidFill>
                <a:latin typeface="Cormorant Garamon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700" y="2286000"/>
            <a:ext cx="5765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Preencha o formulário pelo QR Code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950" b="0" i="0">
                <a:solidFill>
                  <a:srgbClr val="D9DCE1"/>
                </a:solidFill>
                <a:latin typeface="Poppins"/>
              </a:rPr>
              <a:t>Informe apenas nome, telefone e e-mail.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27432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6A25C"/>
                </a:solidFill>
                <a:latin typeface="Cormorant Garamon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9700" y="2768600"/>
            <a:ext cx="5765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Receba as orientações de pagamento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950" b="0" i="0">
                <a:solidFill>
                  <a:srgbClr val="D9DCE1"/>
                </a:solidFill>
                <a:latin typeface="Poppins"/>
              </a:rPr>
              <a:t>Você receberá como realizar o pagamento de R$ 1.500.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" y="32258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C6A25C"/>
                </a:solidFill>
                <a:latin typeface="Cormorant Garamon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9700" y="3251200"/>
            <a:ext cx="5765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Poppins"/>
              </a:rPr>
              <a:t>Após a confirmação, receba os detalhes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950" b="0" i="0">
                <a:solidFill>
                  <a:srgbClr val="D9DCE1"/>
                </a:solidFill>
                <a:latin typeface="Poppins"/>
              </a:rPr>
              <a:t>Enviaremos o formulário estratégico e as opções de datas e horários.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4953000"/>
            <a:ext cx="635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 i="1">
                <a:solidFill>
                  <a:srgbClr val="AAB2BD"/>
                </a:solidFill>
                <a:latin typeface="Poppins"/>
              </a:rPr>
              <a:t>O link do formulário também será disponibilizado no chat. Serão disponibilizadas apenas 10 sessões.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7000" y="1651000"/>
            <a:ext cx="1651000" cy="1651000"/>
          </a:xfrm>
          <a:prstGeom prst="roundRect">
            <a:avLst>
              <a:gd name="adj" fmla="val 6000"/>
            </a:avLst>
          </a:prstGeom>
          <a:noFill/>
          <a:ln w="17780">
            <a:solidFill>
              <a:srgbClr val="C6A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7000" y="1651000"/>
            <a:ext cx="1651000" cy="16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 spc="160" cap="all">
                <a:solidFill>
                  <a:srgbClr val="C6A25C"/>
                </a:solidFill>
                <a:latin typeface="Poppins"/>
              </a:rPr>
              <a:t>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0" y="3429000"/>
            <a:ext cx="2413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1000" b="0" i="0">
                <a:solidFill>
                  <a:srgbClr val="AAB2BD"/>
                </a:solidFill>
                <a:latin typeface="Poppins"/>
              </a:rPr>
              <a:t>Aponte a câmera para acessar o formulário de inscrição.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100" y="292100"/>
            <a:ext cx="11607800" cy="6273800"/>
          </a:xfrm>
          <a:prstGeom prst="rect">
            <a:avLst/>
          </a:prstGeom>
          <a:noFill/>
          <a:ln w="9525">
            <a:solidFill>
              <a:srgbClr val="8A7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300" y="469900"/>
            <a:ext cx="406400" cy="40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350000"/>
            <a:ext cx="2032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C6A25C"/>
                </a:solidFill>
                <a:latin typeface="Cormorant Garamond"/>
              </a:rPr>
              <a:t>R</a:t>
            </a:r>
            <a:r>
              <a:rPr sz="1300" b="1" i="0">
                <a:solidFill>
                  <a:srgbClr val="FFFFFF"/>
                </a:solidFill>
                <a:latin typeface="Cormorant Garamond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350000"/>
            <a:ext cx="5715000" cy="279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650" b="0" i="0" spc="170">
                <a:solidFill>
                  <a:srgbClr val="8A939E"/>
                </a:solidFill>
                <a:latin typeface="Poppins"/>
              </a:rPr>
              <a:t>52 — 52   ENCERRAMENTO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0"/>
            <a:ext cx="4445000" cy="6858000"/>
          </a:xfrm>
          <a:prstGeom prst="roundRect">
            <a:avLst>
              <a:gd name="adj" fmla="val 9000"/>
            </a:avLst>
          </a:prstGeom>
          <a:solidFill>
            <a:srgbClr val="C6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2400"/>
            <a:ext cx="4292600" cy="655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97500" y="952500"/>
            <a:ext cx="5969000" cy="4953000"/>
          </a:xfrm>
          <a:prstGeom prst="roundRect">
            <a:avLst>
              <a:gd name="adj" fmla="val 4000"/>
            </a:avLst>
          </a:prstGeom>
          <a:solidFill>
            <a:srgbClr val="0C2038"/>
          </a:solidFill>
          <a:ln w="15240">
            <a:solidFill>
              <a:srgbClr val="E7C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51500" y="1333500"/>
            <a:ext cx="25400" cy="762000"/>
          </a:xfrm>
          <a:prstGeom prst="rect">
            <a:avLst/>
          </a:prstGeom>
          <a:solidFill>
            <a:srgbClr val="E7C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16600" y="1308100"/>
            <a:ext cx="5461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F2EDE2"/>
                </a:solidFill>
                <a:latin typeface="Cormorant Garamond"/>
              </a:rPr>
              <a:t>“Empresas extraordinárias não surgem por acaso. Elas são construídas por decisões estratégicas consistentes.”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1500" y="2413000"/>
            <a:ext cx="25400" cy="698500"/>
          </a:xfrm>
          <a:prstGeom prst="rect">
            <a:avLst/>
          </a:prstGeom>
          <a:solidFill>
            <a:srgbClr val="E7C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16600" y="2387600"/>
            <a:ext cx="54610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F2EDE2"/>
                </a:solidFill>
                <a:latin typeface="Cormorant Garamond"/>
              </a:rPr>
              <a:t>“O empresário não apenas gere sua empresa. Ele deve construir relevância duradoura.”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1500" y="3429000"/>
            <a:ext cx="5461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2800" b="1" i="0">
                <a:solidFill>
                  <a:srgbClr val="FFFFFF"/>
                </a:solidFill>
                <a:latin typeface="Cormorant Garamond"/>
              </a:rPr>
              <a:t>Obrigado pela </a:t>
            </a:r>
            <a:r>
              <a:rPr sz="2800" b="1" i="0">
                <a:solidFill>
                  <a:srgbClr val="C6A25C"/>
                </a:solidFill>
                <a:latin typeface="Cormorant Garamond"/>
              </a:rPr>
              <a:t>[ </a:t>
            </a:r>
            <a:r>
              <a:rPr sz="2800" b="1" i="0">
                <a:solidFill>
                  <a:srgbClr val="FFFFFF"/>
                </a:solidFill>
                <a:latin typeface="Cormorant Garamond"/>
              </a:rPr>
              <a:t>participação</a:t>
            </a:r>
            <a:r>
              <a:rPr sz="2800" b="1" i="0">
                <a:solidFill>
                  <a:srgbClr val="C6A25C"/>
                </a:solidFill>
                <a:latin typeface="Cormorant Garamond"/>
              </a:rPr>
              <a:t> ]</a:t>
            </a:r>
          </a:p>
        </p:txBody>
      </p:sp>
      <p:pic>
        <p:nvPicPr>
          <p:cNvPr id="14" name="Picture 13" descr="rm_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4572000"/>
            <a:ext cx="2286000" cy="381000"/>
          </a:xfrm>
          <a:prstGeom prst="rect">
            <a:avLst/>
          </a:prstGeom>
        </p:spPr>
      </p:pic>
      <p:pic>
        <p:nvPicPr>
          <p:cNvPr id="15" name="Picture 14" descr="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0" y="4521200"/>
            <a:ext cx="469900" cy="46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